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7A08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914400"/>
            <a:ext cx="8531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สไลด์สอนงาน · แพ็ก Premium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75504" y="150876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>
                <a:solidFill>
                  <a:srgbClr val="FFFFFF"/>
                </a:solidFill>
              </a:rPr>
              <a:t>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2316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สอนใช้งาน แพ็ก Premium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4457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QR Code เมนูครบวงจร  ·  ออเดอร์เข้า LINE OA  ·  Delivery  ·  2 ภาษา</a:t>
            </a:r>
          </a:p>
        </p:txBody>
      </p:sp>
      <p:sp>
        <p:nvSpPr>
          <p:cNvPr id="6" name="Rectangle 5"/>
          <p:cNvSpPr/>
          <p:nvPr/>
        </p:nvSpPr>
        <p:spPr>
          <a:xfrm>
            <a:off x="3803904" y="4206240"/>
            <a:ext cx="4572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557252"/>
                </a:solidFill>
              </a:rPr>
              <a:t>← กด ← → หรือปัดซ้าย/ขวา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6032"/>
            <a:ext cx="2011680" cy="365760"/>
          </a:xfrm>
          <a:prstGeom prst="rect">
            <a:avLst/>
          </a:prstGeom>
          <a:solidFill>
            <a:srgbClr val="87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ภาพรวม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A2A2A"/>
                </a:solidFill>
              </a:rPr>
              <a:t>แพ็ก Premium — ได้อะไรบ้าง?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47120" cy="45720"/>
          </a:xfrm>
          <a:prstGeom prst="rect">
            <a:avLst/>
          </a:prstGeom>
          <a:solidFill>
            <a:srgbClr val="EC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3566160" cy="1828800"/>
          </a:xfrm>
          <a:prstGeom prst="rect">
            <a:avLst/>
          </a:prstGeom>
          <a:solidFill>
            <a:srgbClr val="EC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2A2A2A"/>
                </a:solidFill>
              </a:rPr>
              <a:t>💬  ออเดอร์เข้า LINE OA</a:t>
            </a:r>
          </a:p>
          <a:p>
            <a:r>
              <a:rPr sz="1300">
                <a:solidFill>
                  <a:srgbClr val="5E5E5E"/>
                </a:solidFill>
              </a:rPr>
              <a:t>ลูกค้ากดยืนยัน → ร้านได้รับออเดอร์ครบใน LINE ทันที ไม่มีจดผิด</a:t>
            </a:r>
          </a:p>
        </p:txBody>
      </p:sp>
      <p:sp>
        <p:nvSpPr>
          <p:cNvPr id="6" name="Rectangle 5"/>
          <p:cNvSpPr/>
          <p:nvPr/>
        </p:nvSpPr>
        <p:spPr>
          <a:xfrm>
            <a:off x="4215384" y="1554480"/>
            <a:ext cx="3566160" cy="1828800"/>
          </a:xfrm>
          <a:prstGeom prst="rect">
            <a:avLst/>
          </a:prstGeom>
          <a:solidFill>
            <a:srgbClr val="EC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2A2A2A"/>
                </a:solidFill>
              </a:rPr>
              <a:t>🏠  Delivery ส่งถึงบ้าน</a:t>
            </a:r>
          </a:p>
          <a:p>
            <a:r>
              <a:rPr sz="1300">
                <a:solidFill>
                  <a:srgbClr val="5E5E5E"/>
                </a:solidFill>
              </a:rPr>
              <a:t>กรอกที่อยู่ + ชำระ PromptPay ครบใน 1 ขั้นตอน</a:t>
            </a:r>
          </a:p>
        </p:txBody>
      </p:sp>
      <p:sp>
        <p:nvSpPr>
          <p:cNvPr id="7" name="Rectangle 6"/>
          <p:cNvSpPr/>
          <p:nvPr/>
        </p:nvSpPr>
        <p:spPr>
          <a:xfrm>
            <a:off x="7973568" y="1554480"/>
            <a:ext cx="3566160" cy="1828800"/>
          </a:xfrm>
          <a:prstGeom prst="rect">
            <a:avLst/>
          </a:prstGeom>
          <a:solidFill>
            <a:srgbClr val="EC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2A2A2A"/>
                </a:solidFill>
              </a:rPr>
              <a:t>🌐  2 ภาษา ไทย / EN</a:t>
            </a:r>
          </a:p>
          <a:p>
            <a:r>
              <a:rPr sz="1300">
                <a:solidFill>
                  <a:srgbClr val="5E5E5E"/>
                </a:solidFill>
              </a:rPr>
              <a:t>กดปุ่มสลับ ทุกหน้าเปลี่ยนเป็นอังกฤษพร้อมกัน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657600"/>
            <a:ext cx="3566160" cy="1828800"/>
          </a:xfrm>
          <a:prstGeom prst="rect">
            <a:avLst/>
          </a:prstGeom>
          <a:solidFill>
            <a:srgbClr val="EC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2A2A2A"/>
                </a:solidFill>
              </a:rPr>
              <a:t>🎛️  ตัวเลือกเมนูครบ</a:t>
            </a:r>
          </a:p>
          <a:p>
            <a:r>
              <a:rPr sz="1300">
                <a:solidFill>
                  <a:srgbClr val="5E5E5E"/>
                </a:solidFill>
              </a:rPr>
              <a:t>ขนาด · ประเภทเนื้อ · ท็อปปิ้ง · ความหวาน ราคาปรับอัตโนมัติ</a:t>
            </a:r>
          </a:p>
        </p:txBody>
      </p:sp>
      <p:sp>
        <p:nvSpPr>
          <p:cNvPr id="9" name="Rectangle 8"/>
          <p:cNvSpPr/>
          <p:nvPr/>
        </p:nvSpPr>
        <p:spPr>
          <a:xfrm>
            <a:off x="4215384" y="3657600"/>
            <a:ext cx="3566160" cy="1828800"/>
          </a:xfrm>
          <a:prstGeom prst="rect">
            <a:avLst/>
          </a:prstGeom>
          <a:solidFill>
            <a:srgbClr val="EC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2A2A2A"/>
                </a:solidFill>
              </a:rPr>
              <a:t>✏️  แก้ราคาเองได้</a:t>
            </a:r>
          </a:p>
          <a:p>
            <a:r>
              <a:rPr sz="1300">
                <a:solidFill>
                  <a:srgbClr val="5E5E5E"/>
                </a:solidFill>
              </a:rPr>
              <a:t>Supabase Dashboard — คลิก แก้ Enter เสร็จ ไม่ต้องรอเรา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73568" y="3657600"/>
            <a:ext cx="3566160" cy="1828800"/>
          </a:xfrm>
          <a:prstGeom prst="rect">
            <a:avLst/>
          </a:prstGeom>
          <a:solidFill>
            <a:srgbClr val="EC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2A2A2A"/>
                </a:solidFill>
              </a:rPr>
              <a:t>👁️  ซ่อน/แสดงเมนู</a:t>
            </a:r>
          </a:p>
          <a:p>
            <a:r>
              <a:rPr sz="1300">
                <a:solidFill>
                  <a:srgbClr val="5E5E5E"/>
                </a:solidFill>
              </a:rPr>
              <a:t>ของหมด — ซ่อนได้ 1 คลิก โดยไม่ต้องลบออกถาวร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6032"/>
            <a:ext cx="2011680" cy="365760"/>
          </a:xfrm>
          <a:prstGeom prst="rect">
            <a:avLst/>
          </a:prstGeom>
          <a:solidFill>
            <a:srgbClr val="87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Dine 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A2A2A"/>
                </a:solidFill>
              </a:rPr>
              <a:t>ขั้นตอนลูกค้าทานที่ร้าน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47120" cy="45720"/>
          </a:xfrm>
          <a:prstGeom prst="rect">
            <a:avLst/>
          </a:prstGeom>
          <a:solidFill>
            <a:srgbClr val="EC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1691640" cy="777240"/>
          </a:xfrm>
          <a:prstGeom prst="rect">
            <a:avLst/>
          </a:prstGeom>
          <a:solidFill>
            <a:srgbClr val="ECF2EB"/>
          </a:solidFill>
          <a:ln w="12700">
            <a:solidFill>
              <a:srgbClr val="D4E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A2A2A"/>
                </a:solidFill>
              </a:rPr>
              <a:t>📷  สแกน QR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48840" y="1755648"/>
            <a:ext cx="2194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57252"/>
                </a:solidFill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2350008" y="1554480"/>
            <a:ext cx="1691640" cy="777240"/>
          </a:xfrm>
          <a:prstGeom prst="rect">
            <a:avLst/>
          </a:prstGeom>
          <a:solidFill>
            <a:srgbClr val="ECF2EB"/>
          </a:solidFill>
          <a:ln w="12700">
            <a:solidFill>
              <a:srgbClr val="D4E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A2A2A"/>
                </a:solidFill>
              </a:rPr>
              <a:t>🪑  เลือกโต๊ะ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41648" y="1755648"/>
            <a:ext cx="2194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57252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242816" y="1554480"/>
            <a:ext cx="1691640" cy="777240"/>
          </a:xfrm>
          <a:prstGeom prst="rect">
            <a:avLst/>
          </a:prstGeom>
          <a:solidFill>
            <a:srgbClr val="ECF2EB"/>
          </a:solidFill>
          <a:ln w="12700">
            <a:solidFill>
              <a:srgbClr val="D4E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A2A2A"/>
                </a:solidFill>
              </a:rPr>
              <a:t>🍽️  เลือกเมนู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34456" y="1755648"/>
            <a:ext cx="2194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57252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35624" y="1554480"/>
            <a:ext cx="1691640" cy="777240"/>
          </a:xfrm>
          <a:prstGeom prst="rect">
            <a:avLst/>
          </a:prstGeom>
          <a:solidFill>
            <a:srgbClr val="ECF2EB"/>
          </a:solidFill>
          <a:ln w="12700">
            <a:solidFill>
              <a:srgbClr val="D4E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A2A2A"/>
                </a:solidFill>
              </a:rPr>
              <a:t>🛒  ตรวจตะกร้า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27264" y="1755648"/>
            <a:ext cx="2194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57252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28432" y="1554480"/>
            <a:ext cx="1691640" cy="777240"/>
          </a:xfrm>
          <a:prstGeom prst="rect">
            <a:avLst/>
          </a:prstGeom>
          <a:solidFill>
            <a:srgbClr val="ECF2EB"/>
          </a:solidFill>
          <a:ln w="12700">
            <a:solidFill>
              <a:srgbClr val="D4E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A2A2A"/>
                </a:solidFill>
              </a:rPr>
              <a:t>💳  จ่ายเงิน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20072" y="1755648"/>
            <a:ext cx="2194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57252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21240" y="1554480"/>
            <a:ext cx="1691640" cy="777240"/>
          </a:xfrm>
          <a:prstGeom prst="rect">
            <a:avLst/>
          </a:prstGeom>
          <a:solidFill>
            <a:srgbClr val="EEFFDD"/>
          </a:solidFill>
          <a:ln w="12700">
            <a:solidFill>
              <a:srgbClr val="D4E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A2A2A"/>
                </a:solidFill>
              </a:rPr>
              <a:t>💬  เข้า LINE!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560320"/>
            <a:ext cx="457200" cy="457200"/>
          </a:xfrm>
          <a:prstGeom prst="rect">
            <a:avLst/>
          </a:prstGeom>
          <a:solidFill>
            <a:srgbClr val="87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5146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2A2A"/>
                </a:solidFill>
              </a:rPr>
              <a:t>สแกน QR ที่โต๊ะ — ไม่ต้องโหลดแอป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953512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E5E5E"/>
                </a:solidFill>
              </a:rPr>
              <a:t>ใช้กล้องมือถือปกติได้เลย ทั้ง iPhone และ Android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584448"/>
            <a:ext cx="457200" cy="457200"/>
          </a:xfrm>
          <a:prstGeom prst="rect">
            <a:avLst/>
          </a:prstGeom>
          <a:solidFill>
            <a:srgbClr val="87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53872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2A2A"/>
                </a:solidFill>
              </a:rPr>
              <a:t>เลือกหมายเลขโต๊ะ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397764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E5E5E"/>
                </a:solidFill>
              </a:rPr>
              <a:t>หมายเลขโต๊ะติดมากับออเดอร์อัตโนมัติ ร้านไม่ต้องถามซ้ำ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608576"/>
            <a:ext cx="457200" cy="457200"/>
          </a:xfrm>
          <a:prstGeom prst="rect">
            <a:avLst/>
          </a:prstGeom>
          <a:solidFill>
            <a:srgbClr val="87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56285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2A2A"/>
                </a:solidFill>
              </a:rPr>
              <a:t>เลือกเมนู → ตัวเลือก → ใส่ตะกร้า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5001768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E5E5E"/>
                </a:solidFill>
              </a:rPr>
              <a:t>ขนาด / ประเภทเนื้อ / ความหวาน — ราคาปรับทุกตัวเลือก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632704"/>
            <a:ext cx="457200" cy="457200"/>
          </a:xfrm>
          <a:prstGeom prst="rect">
            <a:avLst/>
          </a:prstGeom>
          <a:solidFill>
            <a:srgbClr val="87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586984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2A2A"/>
                </a:solidFill>
              </a:rPr>
              <a:t>ตรวจตะกร้า → ยืนยัน → เลือกวิธีชำระ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6025896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E5E5E"/>
                </a:solidFill>
              </a:rPr>
              <a:t>PromptPay หรือเงินสด → ออเดอร์เข้า LINE ร้านทันที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6032"/>
            <a:ext cx="2011680" cy="365760"/>
          </a:xfrm>
          <a:prstGeom prst="rect">
            <a:avLst/>
          </a:prstGeom>
          <a:solidFill>
            <a:srgbClr val="87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LINE OA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A2A2A"/>
                </a:solidFill>
              </a:rPr>
              <a:t>ออเดอร์จริงที่เข้ามาใน LINE ร้าน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47120" cy="45720"/>
          </a:xfrm>
          <a:prstGeom prst="rect">
            <a:avLst/>
          </a:prstGeom>
          <a:solidFill>
            <a:srgbClr val="EC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029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029200" cy="594360"/>
          </a:xfrm>
          <a:prstGeom prst="rect">
            <a:avLst/>
          </a:prstGeom>
          <a:solidFill>
            <a:srgbClr val="363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18488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←  ขาหมูนาย ต.  ☏  ⋮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212848"/>
            <a:ext cx="4937760" cy="42976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331720"/>
            <a:ext cx="4297680" cy="3977639"/>
          </a:xfrm>
          <a:prstGeom prst="rect">
            <a:avLst/>
          </a:prstGeom>
          <a:solidFill>
            <a:srgbClr val="EEFFDD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77440"/>
            <a:ext cx="4160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E5E5E"/>
                </a:solidFill>
              </a:rPr>
              <a:t>📩 ระบบเมนู QR — ออเดอร์ใหม่</a:t>
            </a:r>
          </a:p>
          <a:p>
            <a:pPr algn="l"/>
            <a:r>
              <a:rPr sz="1600" b="1">
                <a:solidFill>
                  <a:srgbClr val="2A2A2A"/>
                </a:solidFill>
              </a:rPr>
              <a:t>🍖 ออเดอร์ใหม่!  โต๊ะ 6</a:t>
            </a:r>
          </a:p>
          <a:p>
            <a:pPr algn="l"/>
            <a:r>
              <a:rPr sz="1200" b="0">
                <a:solidFill>
                  <a:srgbClr val="2A2A2A"/>
                </a:solidFill>
              </a:rPr>
              <a:t>ชุดไส้พะโล้เตาถ่าน  ·  ไส้ล้วน  ×2  →  200฿</a:t>
            </a:r>
          </a:p>
          <a:p>
            <a:pPr algn="l"/>
            <a:r>
              <a:rPr sz="1200" b="0">
                <a:solidFill>
                  <a:srgbClr val="2A2A2A"/>
                </a:solidFill>
              </a:rPr>
              <a:t>ชุดขาหมูพะโล้สับ  ·  เนื้อหนัง  ×2  →  200฿</a:t>
            </a:r>
          </a:p>
          <a:p>
            <a:pPr algn="l"/>
            <a:r>
              <a:rPr sz="1200" b="0">
                <a:solidFill>
                  <a:srgbClr val="2A2A2A"/>
                </a:solidFill>
              </a:rPr>
              <a:t>ชุดคากิพะโล้สับ  ×2  →  200฿</a:t>
            </a:r>
          </a:p>
          <a:p>
            <a:pPr algn="l"/>
            <a:r>
              <a:rPr sz="1200" b="0">
                <a:solidFill>
                  <a:srgbClr val="2A2A2A"/>
                </a:solidFill>
              </a:rPr>
              <a:t>ไข่เปิ๊ดต้ม  ×7  →  70฿</a:t>
            </a:r>
          </a:p>
          <a:p>
            <a:pPr algn="l"/>
            <a:r>
              <a:rPr sz="1200" b="0">
                <a:solidFill>
                  <a:srgbClr val="2A2A2A"/>
                </a:solidFill>
              </a:rPr>
              <a:t>ข้าวเปล่า  ×7  →  70฿</a:t>
            </a:r>
          </a:p>
          <a:p>
            <a:pPr algn="l"/>
            <a:r>
              <a:rPr sz="900" b="0">
                <a:solidFill>
                  <a:srgbClr val="86EFAC"/>
                </a:solidFill>
              </a:rPr>
              <a:t>────────────────────────</a:t>
            </a:r>
          </a:p>
          <a:p>
            <a:pPr algn="l"/>
            <a:r>
              <a:rPr sz="1600" b="1">
                <a:solidFill>
                  <a:srgbClr val="2A2A2A"/>
                </a:solidFill>
              </a:rPr>
              <a:t>💰 ยอดรวม  740฿</a:t>
            </a:r>
          </a:p>
          <a:p>
            <a:pPr algn="l"/>
            <a:r>
              <a:rPr sz="1100" b="0">
                <a:solidFill>
                  <a:srgbClr val="5E5E5E"/>
                </a:solidFill>
              </a:rPr>
              <a:t>💳 ชำระ: เงินสด  /  หมายเหตุ: เนื้อสัตว์กะเอิน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623620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E5E5E"/>
                </a:solidFill>
              </a:rPr>
              <a:t>12:19 น.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1554480"/>
            <a:ext cx="91440" cy="14173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52160" y="1554480"/>
            <a:ext cx="5852160" cy="14173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66534"/>
                </a:solidFill>
              </a:rPr>
              <a:t>✅ ข้อมูลครบทุกอย่าง — ไม่ต้องถามลูกค้าเพิ่ม</a:t>
            </a:r>
          </a:p>
          <a:p>
            <a:r>
              <a:rPr sz="1400">
                <a:solidFill>
                  <a:srgbClr val="2A2A2A"/>
                </a:solidFill>
              </a:rPr>
              <a:t>โต๊ะ · รายการ · ตัวเลือก · จำนวน · ยอดรวม · วิธีชำระ · หมายเหตุ
ร้านรับออเดอร์แล้วเริ่มทำได้เลยทันที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3154680"/>
            <a:ext cx="91440" cy="1417320"/>
          </a:xfrm>
          <a:prstGeom prst="rect">
            <a:avLst/>
          </a:prstGeom>
          <a:solidFill>
            <a:srgbClr val="87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52160" y="3154680"/>
            <a:ext cx="5852160" cy="1417320"/>
          </a:xfrm>
          <a:prstGeom prst="rect">
            <a:avLst/>
          </a:prstGeom>
          <a:solidFill>
            <a:srgbClr val="EC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557252"/>
                </a:solidFill>
              </a:rPr>
              <a:t>💳 ลูกค้าเลือก QR PromptPay</a:t>
            </a:r>
          </a:p>
          <a:p>
            <a:r>
              <a:rPr sz="1400">
                <a:solidFill>
                  <a:srgbClr val="2A2A2A"/>
                </a:solidFill>
              </a:rPr>
              <a:t>แสดง QR บนหน้าจอลูกค้า → สแกนโอน → แคปสลิปส่ง LINE OA
ร้านยืนยันรับเงินก่อนเริ่มทำ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0" y="4754880"/>
            <a:ext cx="91440" cy="12801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52160" y="4754880"/>
            <a:ext cx="5852160" cy="12801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3730A3"/>
                </a:solidFill>
              </a:rPr>
              <a:t>💬 LINE OA รับออเดอร์ได้ทันที</a:t>
            </a:r>
          </a:p>
          <a:p>
            <a:r>
              <a:rPr sz="1400">
                <a:solidFill>
                  <a:srgbClr val="2A2A2A"/>
                </a:solidFill>
              </a:rPr>
              <a:t>ออเดอร์ทุกโต๊ะเข้า LINE เดียวกัน เรียงตามเวลา
สามารถตรวจสอบย้อนหลังได้ตลอดเวลา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6032"/>
            <a:ext cx="2011680" cy="365760"/>
          </a:xfrm>
          <a:prstGeom prst="rect">
            <a:avLst/>
          </a:prstGeom>
          <a:solidFill>
            <a:srgbClr val="87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A2A2A"/>
                </a:solidFill>
              </a:rPr>
              <a:t>ขั้นตอนลูกค้าสั่งส่งถึงบ้าน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47120" cy="45720"/>
          </a:xfrm>
          <a:prstGeom prst="rect">
            <a:avLst/>
          </a:prstGeom>
          <a:solidFill>
            <a:srgbClr val="EC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457200" cy="457200"/>
          </a:xfrm>
          <a:prstGeom prst="rect">
            <a:avLst/>
          </a:prstGeom>
          <a:solidFill>
            <a:srgbClr val="87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5544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2A2A"/>
                </a:solidFill>
              </a:rPr>
              <a:t>กดปุ่ม 'ส่งถึงบ้าน' ที่หน้าแรก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993392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E5E5E"/>
                </a:solidFill>
              </a:rPr>
              <a:t>ปุ่มอยู่ก่อนเลือกโต๊ะ — ลูกค้าสั่งจากบ้านได้เลย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514600"/>
            <a:ext cx="457200" cy="457200"/>
          </a:xfrm>
          <a:prstGeom prst="rect">
            <a:avLst/>
          </a:prstGeom>
          <a:solidFill>
            <a:srgbClr val="87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688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2A2A"/>
                </a:solidFill>
              </a:rPr>
              <a:t>เลือกเมนูและตัวเลือก เหมือน Dine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907792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E5E5E"/>
                </a:solidFill>
              </a:rPr>
              <a:t>ใส่ตะกร้าได้หลายรายการ ราคาปรับตามตัวเลือก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429000"/>
            <a:ext cx="457200" cy="457200"/>
          </a:xfrm>
          <a:prstGeom prst="rect">
            <a:avLst/>
          </a:prstGeom>
          <a:solidFill>
            <a:srgbClr val="87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3832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2A2A"/>
                </a:solidFill>
              </a:rPr>
              <a:t>กรอกข้อมูลจัดส่ง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822192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E5E5E"/>
                </a:solidFill>
              </a:rPr>
              <a:t>ชื่อ · เบอร์โทร · ที่อยู่ · เลือกรอบส่ง (เช้า 11:00 / บ่าย 14:00)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343400"/>
            <a:ext cx="457200" cy="457200"/>
          </a:xfrm>
          <a:prstGeom prst="rect">
            <a:avLst/>
          </a:prstGeom>
          <a:solidFill>
            <a:srgbClr val="87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2976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2A2A"/>
                </a:solidFill>
              </a:rPr>
              <a:t>ชำระ PromptPay → แคปสลิป → ส่ง LINE OA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736592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E5E5E"/>
                </a:solidFill>
              </a:rPr>
              <a:t>พร้อมส่ง Pin โลเคชั่นด้วย เพื่อความสะดวก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257800"/>
            <a:ext cx="457200" cy="457200"/>
          </a:xfrm>
          <a:prstGeom prst="rect">
            <a:avLst/>
          </a:prstGeom>
          <a:solidFill>
            <a:srgbClr val="87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52120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2A2A"/>
                </a:solidFill>
              </a:rPr>
              <a:t>ร้านได้รับออเดอร์ + ที่อยู่ + สลิป ครบใน 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650992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E5E5E"/>
                </a:solidFill>
              </a:rPr>
              <a:t>ยืนยันออเดอร์ → จัดส่งตามรอบที่ลูกค้าเลือก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126480"/>
            <a:ext cx="91440" cy="5943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6126480"/>
            <a:ext cx="11183112" cy="5943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3730A3"/>
                </a:solidFill>
              </a:rPr>
              <a:t>💡 แนะนำตั้ง 2 รอบส่ง: เช้า 11:00 + บ่าย 14:00</a:t>
            </a:r>
          </a:p>
          <a:p>
            <a:r>
              <a:rPr sz="1400">
                <a:solidFill>
                  <a:srgbClr val="2A2A2A"/>
                </a:solidFill>
              </a:rPr>
              <a:t>ลูกค้าเลือกเอง ร้านรวมออเดอร์ส่งครั้งเดียว ประหยัดเวลาและค่าน้ำมัน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7A08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645920"/>
            <a:ext cx="8531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⭐  สำคัญที่สุด — เน้นเป็นพิเศษ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36015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</a:rPr>
              <a:t>ซ่อน / แสดง
เมนูชั่วคราว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434840"/>
            <a:ext cx="85313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เมื่อวัตถุดิบหมด หรืออยากปิดเมนูชั่วคราว
ทำได้เองใน 3 คลิก โดยไม่ต้องลบออกถาวร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6032"/>
            <a:ext cx="2011680" cy="365760"/>
          </a:xfrm>
          <a:prstGeom prst="rect">
            <a:avLst/>
          </a:prstGeom>
          <a:solidFill>
            <a:srgbClr val="87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ซ่อนเมนู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A2A2A"/>
                </a:solidFill>
              </a:rPr>
              <a:t>ใช้ซ่อนเมนูเมื่อไร?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47120" cy="45720"/>
          </a:xfrm>
          <a:prstGeom prst="rect">
            <a:avLst/>
          </a:prstGeom>
          <a:solidFill>
            <a:srgbClr val="EC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11274552" cy="1325880"/>
          </a:xfrm>
          <a:prstGeom prst="rect">
            <a:avLst/>
          </a:prstGeom>
          <a:solidFill>
            <a:srgbClr val="EC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709928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A2A2A"/>
                </a:solidFill>
              </a:rPr>
              <a:t>🥩  วัตถุดิบหมดวันนั้น</a:t>
            </a:r>
          </a:p>
          <a:p>
            <a:pPr algn="l"/>
            <a:r>
              <a:rPr sz="1400" b="0">
                <a:solidFill>
                  <a:srgbClr val="5E5E5E"/>
                </a:solidFill>
              </a:rPr>
              <a:t>เช่น ขาหมูขายหมดแล้วก่อนร้านปิด → ซ่อนออกทันที ไม่ให้ลูกค้าสั่งเพิ่ม
วันรุ่งขึ้นเปิดกลับมาได้ 1 คลิก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108960"/>
            <a:ext cx="11274552" cy="1325880"/>
          </a:xfrm>
          <a:prstGeom prst="rect">
            <a:avLst/>
          </a:prstGeom>
          <a:solidFill>
            <a:srgbClr val="EC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218688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A2A2A"/>
                </a:solidFill>
              </a:rPr>
              <a:t>⏸️  ปิดเมนูชั่วคราว</a:t>
            </a:r>
          </a:p>
          <a:p>
            <a:pPr algn="l"/>
            <a:r>
              <a:rPr sz="1400" b="0">
                <a:solidFill>
                  <a:srgbClr val="5E5E5E"/>
                </a:solidFill>
              </a:rPr>
              <a:t>เมนูฤดูกาล หรือรับออเดอร์ได้บางวัน
ซ่อนแทนการลบถาวร เปิดกลับมาได้ตลอด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617720"/>
            <a:ext cx="11274552" cy="1325880"/>
          </a:xfrm>
          <a:prstGeom prst="rect">
            <a:avLst/>
          </a:prstGeom>
          <a:solidFill>
            <a:srgbClr val="EC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727448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A2A2A"/>
                </a:solidFill>
              </a:rPr>
              <a:t>🔧  อยู่ระหว่างปรับราคา</a:t>
            </a:r>
          </a:p>
          <a:p>
            <a:pPr algn="l"/>
            <a:r>
              <a:rPr sz="1400" b="0">
                <a:solidFill>
                  <a:srgbClr val="5E5E5E"/>
                </a:solidFill>
              </a:rPr>
              <a:t>ซ่อนไว้ก่อนระหว่างแก้ราคา
แก้เสร็จแล้วค่อยเปิดให้ลูกค้าเห็น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6126480"/>
            <a:ext cx="91440" cy="5943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6126480"/>
            <a:ext cx="11183112" cy="59436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66534"/>
                </a:solidFill>
              </a:rPr>
              <a:t>✅ ซ่อน ≠ ลบ — ข้อมูลยังอยู่ครบทุกอย่าง</a:t>
            </a:r>
          </a:p>
          <a:p>
            <a:r>
              <a:rPr sz="1400">
                <a:solidFill>
                  <a:srgbClr val="2A2A2A"/>
                </a:solidFill>
              </a:rPr>
              <a:t>รูปภาพ ราคา ตัวเลือก ทุกอย่างยังอยู่ในระบบ เพียงแต่ลูกค้าไม่เห็นชั่วคราว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6032"/>
            <a:ext cx="2011680" cy="365760"/>
          </a:xfrm>
          <a:prstGeom prst="rect">
            <a:avLst/>
          </a:prstGeom>
          <a:solidFill>
            <a:srgbClr val="87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ซ่อนเมนู · ขั้น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A2A2A"/>
                </a:solidFill>
              </a:rPr>
              <a:t>เปิดเว็บ Supabase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47120" cy="45720"/>
          </a:xfrm>
          <a:prstGeom prst="rect">
            <a:avLst/>
          </a:prstGeom>
          <a:solidFill>
            <a:srgbClr val="EC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457200" cy="457200"/>
          </a:xfrm>
          <a:prstGeom prst="rect">
            <a:avLst/>
          </a:prstGeom>
          <a:solidFill>
            <a:srgbClr val="87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6002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2A2A"/>
                </a:solidFill>
              </a:rPr>
              <a:t>เปิดเบราว์เซอร์ → พิมพ์  supabase.com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70048"/>
            <a:ext cx="457200" cy="457200"/>
          </a:xfrm>
          <a:prstGeom prst="rect">
            <a:avLst/>
          </a:prstGeom>
          <a:solidFill>
            <a:srgbClr val="87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2432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2A2A"/>
                </a:solidFill>
              </a:rPr>
              <a:t>กด Sign in → กรอก Email + Password ที่เราส่งให้ทาง 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694176"/>
            <a:ext cx="457200" cy="457200"/>
          </a:xfrm>
          <a:prstGeom prst="rect">
            <a:avLst/>
          </a:prstGeom>
          <a:solidFill>
            <a:srgbClr val="87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64845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2A2A"/>
                </a:solidFill>
              </a:rPr>
              <a:t>คลิกชื่อโปรเจกต์ร้านของคุณ (เห็นในหน้าแรก)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718304"/>
            <a:ext cx="457200" cy="457200"/>
          </a:xfrm>
          <a:prstGeom prst="rect">
            <a:avLst/>
          </a:prstGeom>
          <a:solidFill>
            <a:srgbClr val="87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672584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2A2A"/>
                </a:solidFill>
              </a:rPr>
              <a:t>เมนูซ้ายมือ → กด 'Table Editor' → คลิกตาราง  menu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806440"/>
            <a:ext cx="91440" cy="8229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5806440"/>
            <a:ext cx="11183112" cy="8229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3730A3"/>
                </a:solidFill>
              </a:rPr>
              <a:t>💡 เคล็ดลับ: Bookmark URL ไว้เลย!</a:t>
            </a:r>
          </a:p>
          <a:p>
            <a:r>
              <a:rPr sz="1400">
                <a:solidFill>
                  <a:srgbClr val="2A2A2A"/>
                </a:solidFill>
              </a:rPr>
              <a:t>เข้า Table Editor ครั้งแรก → กด Bookmark ในเบราว์เซอร์ทันที
ครั้งต่อไปกดบุ๊กมาร์กได้เลย ไม่ต้องคลิกหลายขั้น ประหยัดเวลามาก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6032"/>
            <a:ext cx="2011680" cy="365760"/>
          </a:xfrm>
          <a:prstGeom prst="rect">
            <a:avLst/>
          </a:prstGeom>
          <a:solidFill>
            <a:srgbClr val="87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ซ่อนเมนู · ขั้น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A2A2A"/>
                </a:solidFill>
              </a:rPr>
              <a:t>หน้าตา Table Editor ใน Supabase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47120" cy="45720"/>
          </a:xfrm>
          <a:prstGeom prst="rect">
            <a:avLst/>
          </a:prstGeom>
          <a:solidFill>
            <a:srgbClr val="EC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E5E5E"/>
                </a:solidFill>
              </a:rPr>
              <a:t>หลังกด Table Editor แล้วคลิก 'menu' จะเห็นตารางแบบนี้: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11274552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3ECF8E"/>
                </a:solidFill>
                <a:latin typeface="Courier New"/>
              </a:rPr>
              <a:t>⚡ Supabase </a:t>
            </a:r>
            <a:r>
              <a:rPr sz="1300">
                <a:solidFill>
                  <a:srgbClr val="94A3B8"/>
                </a:solidFill>
                <a:latin typeface="Courier New"/>
              </a:rPr>
              <a:t>› ร้านขาหมูนาย ต. › Table Editor › </a:t>
            </a:r>
            <a:r>
              <a:rPr sz="1300">
                <a:solidFill>
                  <a:srgbClr val="3ECF8E"/>
                </a:solidFill>
                <a:latin typeface="Courier New"/>
              </a:rPr>
              <a:t>menu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23160"/>
            <a:ext cx="11274552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4231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94A3B8"/>
                </a:solidFill>
                <a:latin typeface="Courier New"/>
              </a:rPr>
              <a:t>Authentication   </a:t>
            </a:r>
            <a:r>
              <a:rPr sz="1300">
                <a:solidFill>
                  <a:srgbClr val="3ECF8E"/>
                </a:solidFill>
                <a:latin typeface="Courier New"/>
              </a:rPr>
              <a:t>● Table Editor   </a:t>
            </a:r>
            <a:r>
              <a:rPr sz="1300">
                <a:solidFill>
                  <a:srgbClr val="94A3B8"/>
                </a:solidFill>
                <a:latin typeface="Courier New"/>
              </a:rPr>
              <a:t>SQL Editor   Storage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88920"/>
            <a:ext cx="11274552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78892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94A3B8"/>
                </a:solidFill>
                <a:latin typeface="Courier New"/>
              </a:rPr>
              <a:t>id        </a:t>
            </a:r>
            <a:r>
              <a:rPr sz="1300">
                <a:solidFill>
                  <a:srgbClr val="94A3B8"/>
                </a:solidFill>
                <a:latin typeface="Courier New"/>
              </a:rPr>
              <a:t>name (ชื่อเมนู)                      </a:t>
            </a:r>
            <a:r>
              <a:rPr sz="1300">
                <a:solidFill>
                  <a:srgbClr val="94A3B8"/>
                </a:solidFill>
                <a:latin typeface="Courier New"/>
              </a:rPr>
              <a:t>price     </a:t>
            </a:r>
            <a:r>
              <a:rPr sz="1300">
                <a:solidFill>
                  <a:srgbClr val="94A3B8"/>
                </a:solidFill>
                <a:latin typeface="Courier New"/>
              </a:rPr>
              <a:t>is_available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54680"/>
            <a:ext cx="11274552" cy="53035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154680"/>
            <a:ext cx="110642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CBD5E1"/>
                </a:solidFill>
                <a:latin typeface="Courier New"/>
              </a:rPr>
              <a:t>1     </a:t>
            </a:r>
            <a:r>
              <a:rPr sz="1300">
                <a:solidFill>
                  <a:srgbClr val="CBD5E1"/>
                </a:solidFill>
                <a:latin typeface="Courier New"/>
              </a:rPr>
              <a:t>ขาหมูพะโล้เตาถ่าน (ชุดใหญ่)</a:t>
            </a:r>
            <a:r>
              <a:rPr sz="1300">
                <a:solidFill>
                  <a:srgbClr val="CBD5E1"/>
                </a:solidFill>
                <a:latin typeface="Courier New"/>
              </a:rPr>
              <a:t>180     </a:t>
            </a:r>
            <a:r>
              <a:rPr sz="1300">
                <a:solidFill>
                  <a:srgbClr val="3ECF8E"/>
                </a:solidFill>
                <a:latin typeface="Courier New"/>
              </a:rPr>
              <a:t>✓ true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703320"/>
            <a:ext cx="11274552" cy="53035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703320"/>
            <a:ext cx="110642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CBD5E1"/>
                </a:solidFill>
                <a:latin typeface="Courier New"/>
              </a:rPr>
              <a:t>5     </a:t>
            </a:r>
            <a:r>
              <a:rPr sz="1300">
                <a:solidFill>
                  <a:srgbClr val="CBD5E1"/>
                </a:solidFill>
                <a:latin typeface="Courier New"/>
              </a:rPr>
              <a:t>ชุดไส้พะโล้เตาถ่าน             </a:t>
            </a:r>
            <a:r>
              <a:rPr sz="1300">
                <a:solidFill>
                  <a:srgbClr val="CBD5E1"/>
                </a:solidFill>
                <a:latin typeface="Courier New"/>
              </a:rPr>
              <a:t>100     </a:t>
            </a:r>
            <a:r>
              <a:rPr sz="1300">
                <a:solidFill>
                  <a:srgbClr val="3ECF8E"/>
                </a:solidFill>
                <a:latin typeface="Courier New"/>
              </a:rPr>
              <a:t>✓ true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251960"/>
            <a:ext cx="11274552" cy="53035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251960"/>
            <a:ext cx="110642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CBD5E1"/>
                </a:solidFill>
                <a:latin typeface="Courier New"/>
              </a:rPr>
              <a:t>4     </a:t>
            </a:r>
            <a:r>
              <a:rPr sz="1300">
                <a:solidFill>
                  <a:srgbClr val="CBD5E1"/>
                </a:solidFill>
                <a:latin typeface="Courier New"/>
              </a:rPr>
              <a:t>ข้าวขาหมูพะโล้เตาถ่าน          </a:t>
            </a:r>
            <a:r>
              <a:rPr sz="1300">
                <a:solidFill>
                  <a:srgbClr val="CBD5E1"/>
                </a:solidFill>
                <a:latin typeface="Courier New"/>
              </a:rPr>
              <a:t>60      </a:t>
            </a:r>
            <a:r>
              <a:rPr sz="1300">
                <a:solidFill>
                  <a:srgbClr val="3ECF8E"/>
                </a:solidFill>
                <a:latin typeface="Courier New"/>
              </a:rPr>
              <a:t>✓ true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800600"/>
            <a:ext cx="11274552" cy="53035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800600"/>
            <a:ext cx="110642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CBD5E1"/>
                </a:solidFill>
                <a:latin typeface="Courier New"/>
              </a:rPr>
              <a:t>7     </a:t>
            </a:r>
            <a:r>
              <a:rPr sz="1300">
                <a:solidFill>
                  <a:srgbClr val="CBD5E1"/>
                </a:solidFill>
                <a:latin typeface="Courier New"/>
              </a:rPr>
              <a:t>กาแฟสด Premium                  </a:t>
            </a:r>
            <a:r>
              <a:rPr sz="1300">
                <a:solidFill>
                  <a:srgbClr val="CBD5E1"/>
                </a:solidFill>
                <a:latin typeface="Courier New"/>
              </a:rPr>
              <a:t>65      </a:t>
            </a:r>
            <a:r>
              <a:rPr sz="1300">
                <a:solidFill>
                  <a:srgbClr val="3ECF8E"/>
                </a:solidFill>
                <a:latin typeface="Courier New"/>
              </a:rPr>
              <a:t>✓ true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67528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C2626"/>
                </a:solidFill>
              </a:rPr>
              <a:t>☝️  คอลัมน์ is_available ด้านขวา คือตัวควบคุม   true = แสดง   false = ซ่อน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961888"/>
            <a:ext cx="91440" cy="731520"/>
          </a:xfrm>
          <a:prstGeom prst="rect">
            <a:avLst/>
          </a:prstGeom>
          <a:solidFill>
            <a:srgbClr val="87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5961888"/>
            <a:ext cx="11183112" cy="731520"/>
          </a:xfrm>
          <a:prstGeom prst="rect">
            <a:avLst/>
          </a:prstGeom>
          <a:solidFill>
            <a:srgbClr val="EC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557252"/>
                </a:solidFill>
              </a:rPr>
              <a:t>ℹ️  is_available แปลว่า 'มีพร้อมสั่งไหม?'</a:t>
            </a:r>
          </a:p>
          <a:p>
            <a:r>
              <a:rPr sz="1400">
                <a:solidFill>
                  <a:srgbClr val="2A2A2A"/>
                </a:solidFill>
              </a:rPr>
              <a:t>true = มีพร้อมสั่ง (ลูกค้าเห็น)  ·  false = ไม่มี (ลูกค้าไม่เห็น แต่ข้อมูลยังอยู่ในระบบ)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6032"/>
            <a:ext cx="2011680" cy="365760"/>
          </a:xfrm>
          <a:prstGeom prst="rect">
            <a:avLst/>
          </a:prstGeom>
          <a:solidFill>
            <a:srgbClr val="87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ซ่อนเมนู · ขั้น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A2A2A"/>
                </a:solidFill>
              </a:rPr>
              <a:t>คลิกเซลล์ → พิมพ์ false → กด Enter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47120" cy="45720"/>
          </a:xfrm>
          <a:prstGeom prst="rect">
            <a:avLst/>
          </a:prstGeom>
          <a:solidFill>
            <a:srgbClr val="EC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E5E5E"/>
                </a:solidFill>
              </a:rPr>
              <a:t>ตัวอย่าง: ต้องการซ่อน 'ชุดไส้พะโล้เตาถ่าน' เพราะขายหมด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11274552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3ECF8E"/>
                </a:solidFill>
                <a:latin typeface="Courier New"/>
              </a:rPr>
              <a:t>⚡ Supabase </a:t>
            </a:r>
            <a:r>
              <a:rPr sz="1300">
                <a:solidFill>
                  <a:srgbClr val="94A3B8"/>
                </a:solidFill>
                <a:latin typeface="Courier New"/>
              </a:rPr>
              <a:t>› Table Editor › menu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77440"/>
            <a:ext cx="11274552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94A3B8"/>
                </a:solidFill>
                <a:latin typeface="Courier New"/>
              </a:rPr>
              <a:t>id        </a:t>
            </a:r>
            <a:r>
              <a:rPr sz="1300">
                <a:solidFill>
                  <a:srgbClr val="94A3B8"/>
                </a:solidFill>
                <a:latin typeface="Courier New"/>
              </a:rPr>
              <a:t>name (ชื่อเมนู)                      </a:t>
            </a:r>
            <a:r>
              <a:rPr sz="1300">
                <a:solidFill>
                  <a:srgbClr val="94A3B8"/>
                </a:solidFill>
                <a:latin typeface="Courier New"/>
              </a:rPr>
              <a:t>price     </a:t>
            </a:r>
            <a:r>
              <a:rPr sz="1300">
                <a:solidFill>
                  <a:srgbClr val="94A3B8"/>
                </a:solidFill>
                <a:latin typeface="Courier New"/>
              </a:rPr>
              <a:t>is_available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43200"/>
            <a:ext cx="11274552" cy="5669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74320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CBD5E1"/>
                </a:solidFill>
                <a:latin typeface="Courier New"/>
              </a:rPr>
              <a:t>1     </a:t>
            </a:r>
            <a:r>
              <a:rPr sz="1400" b="0">
                <a:solidFill>
                  <a:srgbClr val="CBD5E1"/>
                </a:solidFill>
                <a:latin typeface="Courier New"/>
              </a:rPr>
              <a:t>ขาหมูพะโล้เตาถ่าน (ชุดใหญ่)</a:t>
            </a:r>
            <a:r>
              <a:rPr sz="1400" b="0">
                <a:solidFill>
                  <a:srgbClr val="CBD5E1"/>
                </a:solidFill>
                <a:latin typeface="Courier New"/>
              </a:rPr>
              <a:t>180     </a:t>
            </a:r>
            <a:r>
              <a:rPr sz="1400" b="0">
                <a:solidFill>
                  <a:srgbClr val="3ECF8E"/>
                </a:solidFill>
                <a:latin typeface="Courier New"/>
              </a:rPr>
              <a:t>✓ true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337560"/>
            <a:ext cx="11274552" cy="566928"/>
          </a:xfrm>
          <a:prstGeom prst="rect">
            <a:avLst/>
          </a:prstGeom>
          <a:solidFill>
            <a:srgbClr val="0D2116"/>
          </a:solidFill>
          <a:ln w="25400">
            <a:solidFill>
              <a:srgbClr val="3EC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33756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CBD5E1"/>
                </a:solidFill>
                <a:latin typeface="Courier New"/>
              </a:rPr>
              <a:t>5     </a:t>
            </a:r>
            <a:r>
              <a:rPr sz="1400" b="0">
                <a:solidFill>
                  <a:srgbClr val="FCD34D"/>
                </a:solidFill>
                <a:latin typeface="Courier New"/>
              </a:rPr>
              <a:t>ชุดไส้พะโล้เตาถ่าน             </a:t>
            </a:r>
            <a:r>
              <a:rPr sz="1400" b="0">
                <a:solidFill>
                  <a:srgbClr val="CBD5E1"/>
                </a:solidFill>
                <a:latin typeface="Courier New"/>
              </a:rPr>
              <a:t>100     </a:t>
            </a:r>
            <a:r>
              <a:rPr sz="1400" b="1">
                <a:solidFill>
                  <a:srgbClr val="F87171"/>
                </a:solidFill>
                <a:latin typeface="Courier New"/>
              </a:rPr>
              <a:t>false|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931920"/>
            <a:ext cx="11274552" cy="56692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93192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CBD5E1"/>
                </a:solidFill>
                <a:latin typeface="Courier New"/>
              </a:rPr>
              <a:t>4     </a:t>
            </a:r>
            <a:r>
              <a:rPr sz="1400" b="0">
                <a:solidFill>
                  <a:srgbClr val="CBD5E1"/>
                </a:solidFill>
                <a:latin typeface="Courier New"/>
              </a:rPr>
              <a:t>ข้าวขาหมูพะโล้เตาถ่าน          </a:t>
            </a:r>
            <a:r>
              <a:rPr sz="1400" b="0">
                <a:solidFill>
                  <a:srgbClr val="CBD5E1"/>
                </a:solidFill>
                <a:latin typeface="Courier New"/>
              </a:rPr>
              <a:t>60      </a:t>
            </a:r>
            <a:r>
              <a:rPr sz="1400" b="0">
                <a:solidFill>
                  <a:srgbClr val="3ECF8E"/>
                </a:solidFill>
                <a:latin typeface="Courier New"/>
              </a:rPr>
              <a:t>✓ true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553712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C2626"/>
                </a:solidFill>
              </a:rPr>
              <a:t>⬆️  แถวนี้กำลังแก้ไข — พิมพ์  false  แล้วกด  Enter  เมนูหายทันที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184648"/>
            <a:ext cx="457200" cy="457200"/>
          </a:xfrm>
          <a:prstGeom prst="rect">
            <a:avLst/>
          </a:prstGeom>
          <a:solidFill>
            <a:srgbClr val="87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513892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2A2A"/>
                </a:solidFill>
              </a:rPr>
              <a:t>ดับเบิลคลิกที่เซลล์ is_available ของเมนูที่ต้องการซ่อน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57784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E5E5E"/>
                </a:solidFill>
              </a:rPr>
              <a:t>เซลล์เข้าโหมดแก้ไข (เห็น cursor กะพริบ)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172200"/>
            <a:ext cx="457200" cy="457200"/>
          </a:xfrm>
          <a:prstGeom prst="rect">
            <a:avLst/>
          </a:prstGeom>
          <a:solidFill>
            <a:srgbClr val="87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61264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2A2A"/>
                </a:solidFill>
              </a:rPr>
              <a:t>ลบค่าเดิม พิมพ์ false (ตัวเล็กทั้งหมด) → กด Enter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6565392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E5E5E"/>
                </a:solidFill>
              </a:rPr>
              <a:t>เมนูหายจากแอปลูกค้าทันที ไม่ต้อง Refresh หรือรอ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6032"/>
            <a:ext cx="2011680" cy="365760"/>
          </a:xfrm>
          <a:prstGeom prst="rect">
            <a:avLst/>
          </a:prstGeom>
          <a:solidFill>
            <a:srgbClr val="87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ผลลัพธ์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A2A2A"/>
                </a:solidFill>
              </a:rPr>
              <a:t>ลูกค้าเห็นอะไร ก่อน / หลัง ซ่อนเมนู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47120" cy="45720"/>
          </a:xfrm>
          <a:prstGeom prst="rect">
            <a:avLst/>
          </a:prstGeom>
          <a:solidFill>
            <a:srgbClr val="EC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39496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394960" cy="50292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991B1B"/>
                </a:solidFill>
              </a:rPr>
              <a:t>ก่อนซ่อน 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5856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A2A2A"/>
                </a:solidFill>
              </a:rPr>
              <a:t>🍖 ขาหมูพะโล้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258568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2A2A2A"/>
                </a:solidFill>
              </a:rPr>
              <a:t>180฿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807208"/>
            <a:ext cx="5303520" cy="594360"/>
          </a:xfrm>
          <a:prstGeom prst="rect">
            <a:avLst/>
          </a:prstGeom>
          <a:solidFill>
            <a:srgbClr val="FEF9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916936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A2A2A"/>
                </a:solidFill>
              </a:rPr>
              <a:t>🫀 ชุดไส้พะโล้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916936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2A2A2A"/>
                </a:solidFill>
              </a:rPr>
              <a:t>100฿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7530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A2A2A"/>
                </a:solidFill>
              </a:rPr>
              <a:t>🍚 ข้าวขาหมู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3575304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2A2A2A"/>
                </a:solidFill>
              </a:rPr>
              <a:t>60฿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23367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A2A2A"/>
                </a:solidFill>
              </a:rPr>
              <a:t>☕ กาแฟสด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4233672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2A2A2A"/>
                </a:solidFill>
              </a:rPr>
              <a:t>65฿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554480"/>
            <a:ext cx="5605272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554480"/>
            <a:ext cx="5605272" cy="50292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1554480"/>
            <a:ext cx="56052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66534"/>
                </a:solidFill>
              </a:rPr>
              <a:t>หลังซ่อน 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25856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A2A2A"/>
                </a:solidFill>
              </a:rPr>
              <a:t>🍖 ขาหมูพะโล้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52760" y="2258568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2A2A2A"/>
                </a:solidFill>
              </a:rPr>
              <a:t>180฿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916936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A2A2A"/>
                </a:solidFill>
              </a:rPr>
              <a:t>🍚 ข้าวขาหมู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52760" y="2916936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2A2A2A"/>
                </a:solidFill>
              </a:rPr>
              <a:t>60฿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575304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A2A2A"/>
                </a:solidFill>
              </a:rPr>
              <a:t>☕ กาแฟสด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52760" y="3575304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2A2A2A"/>
                </a:solidFill>
              </a:rPr>
              <a:t>65฿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4169663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6A34A"/>
                </a:solidFill>
              </a:rPr>
              <a:t>✓  'ชุดไส้' หายออกไปแล้ว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376672"/>
            <a:ext cx="91440" cy="713232"/>
          </a:xfrm>
          <a:prstGeom prst="rect">
            <a:avLst/>
          </a:prstGeom>
          <a:solidFill>
            <a:srgbClr val="CCA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376672"/>
            <a:ext cx="11183112" cy="713232"/>
          </a:xfrm>
          <a:prstGeom prst="rect">
            <a:avLst/>
          </a:prstGeom>
          <a:solidFill>
            <a:srgbClr val="FFF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7A5500"/>
                </a:solidFill>
              </a:rPr>
              <a:t>↩️ อยากเปิดกลับมา?</a:t>
            </a:r>
          </a:p>
          <a:p>
            <a:r>
              <a:rPr sz="1400">
                <a:solidFill>
                  <a:srgbClr val="2A2A2A"/>
                </a:solidFill>
              </a:rPr>
              <a:t>กลับ Supabase → ดับเบิลคลิกเซลล์เดิม → พิมพ์  true → Enter  เมนูกลับมาทันที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6172200"/>
            <a:ext cx="91440" cy="5669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6172200"/>
            <a:ext cx="11183112" cy="566928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66534"/>
                </a:solidFill>
              </a:rPr>
              <a:t>✅ ซ่อนไม่ลบ — ข้อมูลไม่หายไปไหน</a:t>
            </a:r>
          </a:p>
          <a:p>
            <a:r>
              <a:rPr sz="1400">
                <a:solidFill>
                  <a:srgbClr val="2A2A2A"/>
                </a:solidFill>
              </a:rPr>
              <a:t>รูปภาพ ราคา ตัวเลือก ทุกอย่างยังอยู่ครบ แค่ลูกค้าไม่เห็นชั่วคราว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6032"/>
            <a:ext cx="2011680" cy="365760"/>
          </a:xfrm>
          <a:prstGeom prst="rect">
            <a:avLst/>
          </a:prstGeom>
          <a:solidFill>
            <a:srgbClr val="87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💡 ข้อเสนอแนะ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A2A2A"/>
                </a:solidFill>
              </a:rPr>
              <a:t>วิธีเร็วกว่า — ใช้ SQL แทน Table Editor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47120" cy="45720"/>
          </a:xfrm>
          <a:prstGeom prst="rect">
            <a:avLst/>
          </a:prstGeom>
          <a:solidFill>
            <a:srgbClr val="EC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91440" cy="10972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11183112" cy="109728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3730A3"/>
                </a:solidFill>
              </a:rPr>
              <a:t>🎯 ทำไม SQL ถึงง่ายกว่า?</a:t>
            </a:r>
          </a:p>
          <a:p>
            <a:r>
              <a:rPr sz="1400">
                <a:solidFill>
                  <a:srgbClr val="2A2A2A"/>
                </a:solidFill>
              </a:rPr>
              <a:t>Table Editor: ต้องหาแถว → เลื่อนหา column → คลิก → แก้
SQL: พิมพ์ชื่อเมนู → กด Run → เสร็จ ใช้เวลาไม่ถึง 10 วินาที!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88920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E5E5E"/>
                </a:solidFill>
              </a:rPr>
              <a:t>เมนูซ้าย → SQL Editor → New Query → วางโค้ดนี้ → กด Run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46120"/>
            <a:ext cx="11274552" cy="24231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337560"/>
            <a:ext cx="1097280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475569"/>
                </a:solidFill>
                <a:latin typeface="Courier New"/>
              </a:rPr>
              <a:t>-- 🙈 ซ่อนเมนู (เปลี่ยนแค่ชื่อในกรอบเหลือง)</a:t>
            </a:r>
          </a:p>
          <a:p>
            <a:r>
              <a:rPr sz="1500" b="1">
                <a:solidFill>
                  <a:srgbClr val="C084FC"/>
                </a:solidFill>
                <a:latin typeface="Courier New"/>
              </a:rPr>
              <a:t>UPDATE </a:t>
            </a:r>
            <a:r>
              <a:rPr sz="1500" b="0">
                <a:solidFill>
                  <a:srgbClr val="7DD3FC"/>
                </a:solidFill>
                <a:latin typeface="Courier New"/>
              </a:rPr>
              <a:t>public.menu</a:t>
            </a:r>
          </a:p>
          <a:p>
            <a:r>
              <a:rPr sz="1500" b="1">
                <a:solidFill>
                  <a:srgbClr val="C084FC"/>
                </a:solidFill>
                <a:latin typeface="Courier New"/>
              </a:rPr>
              <a:t>SET </a:t>
            </a:r>
            <a:r>
              <a:rPr sz="1500" b="0">
                <a:solidFill>
                  <a:srgbClr val="7DD3FC"/>
                </a:solidFill>
                <a:latin typeface="Courier New"/>
              </a:rPr>
              <a:t>is_available = </a:t>
            </a:r>
            <a:r>
              <a:rPr sz="1500" b="1">
                <a:solidFill>
                  <a:srgbClr val="86EFAC"/>
                </a:solidFill>
                <a:latin typeface="Courier New"/>
              </a:rPr>
              <a:t>false</a:t>
            </a:r>
          </a:p>
          <a:p>
            <a:r>
              <a:rPr sz="1500" b="1">
                <a:solidFill>
                  <a:srgbClr val="C084FC"/>
                </a:solidFill>
                <a:latin typeface="Courier New"/>
              </a:rPr>
              <a:t>WHERE </a:t>
            </a:r>
            <a:r>
              <a:rPr sz="1500" b="0">
                <a:solidFill>
                  <a:srgbClr val="7DD3FC"/>
                </a:solidFill>
                <a:latin typeface="Courier New"/>
              </a:rPr>
              <a:t>name </a:t>
            </a:r>
            <a:r>
              <a:rPr sz="1500" b="1">
                <a:solidFill>
                  <a:srgbClr val="C084FC"/>
                </a:solidFill>
                <a:latin typeface="Courier New"/>
              </a:rPr>
              <a:t>ILIKE </a:t>
            </a:r>
            <a:r>
              <a:rPr sz="1500" b="0">
                <a:solidFill>
                  <a:srgbClr val="86EFAC"/>
                </a:solidFill>
                <a:latin typeface="Courier New"/>
              </a:rPr>
              <a:t>'%</a:t>
            </a:r>
            <a:r>
              <a:rPr sz="1500" b="1">
                <a:solidFill>
                  <a:srgbClr val="FCD34D"/>
                </a:solidFill>
                <a:latin typeface="Courier New"/>
              </a:rPr>
              <a:t>ชุดไส้</a:t>
            </a:r>
            <a:r>
              <a:rPr sz="1500" b="0">
                <a:solidFill>
                  <a:srgbClr val="86EFAC"/>
                </a:solidFill>
                <a:latin typeface="Courier New"/>
              </a:rPr>
              <a:t>%';</a:t>
            </a:r>
          </a:p>
          <a:p>
            <a:r>
              <a:rPr sz="1500" b="0">
                <a:solidFill>
                  <a:srgbClr val="475569"/>
                </a:solidFill>
                <a:latin typeface="Courier New"/>
              </a:rPr>
              <a:t/>
            </a:r>
          </a:p>
          <a:p>
            <a:r>
              <a:rPr sz="1500" b="0">
                <a:solidFill>
                  <a:srgbClr val="475569"/>
                </a:solidFill>
                <a:latin typeface="Courier New"/>
              </a:rPr>
              <a:t>-- 👁️ เปิดกลับมา</a:t>
            </a:r>
          </a:p>
          <a:p>
            <a:r>
              <a:rPr sz="1500" b="1">
                <a:solidFill>
                  <a:srgbClr val="C084FC"/>
                </a:solidFill>
                <a:latin typeface="Courier New"/>
              </a:rPr>
              <a:t>UPDATE </a:t>
            </a:r>
            <a:r>
              <a:rPr sz="1500" b="0">
                <a:solidFill>
                  <a:srgbClr val="7DD3FC"/>
                </a:solidFill>
                <a:latin typeface="Courier New"/>
              </a:rPr>
              <a:t>public.menu  SET is_available = </a:t>
            </a:r>
            <a:r>
              <a:rPr sz="1500" b="1">
                <a:solidFill>
                  <a:srgbClr val="86EFAC"/>
                </a:solidFill>
                <a:latin typeface="Courier New"/>
              </a:rPr>
              <a:t>true  </a:t>
            </a:r>
            <a:r>
              <a:rPr sz="1500" b="0">
                <a:solidFill>
                  <a:srgbClr val="C084FC"/>
                </a:solidFill>
                <a:latin typeface="Courier New"/>
              </a:rPr>
              <a:t>WHERE name ILIKE </a:t>
            </a:r>
            <a:r>
              <a:rPr sz="1500" b="0">
                <a:solidFill>
                  <a:srgbClr val="86EFAC"/>
                </a:solidFill>
                <a:latin typeface="Courier New"/>
              </a:rPr>
              <a:t>'%</a:t>
            </a:r>
            <a:r>
              <a:rPr sz="1500" b="1">
                <a:solidFill>
                  <a:srgbClr val="FCD34D"/>
                </a:solidFill>
                <a:latin typeface="Courier New"/>
              </a:rPr>
              <a:t>ชุดไส้</a:t>
            </a:r>
            <a:r>
              <a:rPr sz="1500" b="0">
                <a:solidFill>
                  <a:srgbClr val="86EFAC"/>
                </a:solidFill>
                <a:latin typeface="Courier New"/>
              </a:rPr>
              <a:t>%';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806440"/>
            <a:ext cx="91440" cy="8229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806440"/>
            <a:ext cx="11183112" cy="8229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3730A3"/>
                </a:solidFill>
              </a:rPr>
              <a:t>✏️  เปลี่ยนแค่คำสีเหลือง  ชุดไส้  = ชื่อ (หรือส่วนของชื่อ) เมนูที่ต้องการซ่อน</a:t>
            </a:r>
          </a:p>
          <a:p>
            <a:r>
              <a:rPr sz="1400">
                <a:solidFill>
                  <a:srgbClr val="2A2A2A"/>
                </a:solidFill>
              </a:rPr>
              <a:t>เช่น ซ่อน 'ขาหมูพะโล้เตาถ่าน' → พิมพ์  ขาหมู   ILIKE ค้นหาชื่อที่มีคำนั้นอยู่ ไม่สนตัวเล็ก/ใหญ่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6032"/>
            <a:ext cx="2011680" cy="365760"/>
          </a:xfrm>
          <a:prstGeom prst="rect">
            <a:avLst/>
          </a:prstGeom>
          <a:solidFill>
            <a:srgbClr val="87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แก้ราคา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A2A2A"/>
                </a:solidFill>
              </a:rPr>
              <a:t>แก้ราคาเมนูด้วยตัวเอง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47120" cy="45720"/>
          </a:xfrm>
          <a:prstGeom prst="rect">
            <a:avLst/>
          </a:prstGeom>
          <a:solidFill>
            <a:srgbClr val="EC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457200" cy="457200"/>
          </a:xfrm>
          <a:prstGeom prst="rect">
            <a:avLst/>
          </a:prstGeom>
          <a:solidFill>
            <a:srgbClr val="87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6002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2A2A"/>
                </a:solidFill>
              </a:rPr>
              <a:t>Supabase → Table Editor → ตาราง menu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39112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E5E5E"/>
                </a:solidFill>
              </a:rPr>
              <a:t>เห็นรายการเมนูทั้งหมด พร้อมราคาปัจจุบัน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51760"/>
            <a:ext cx="457200" cy="457200"/>
          </a:xfrm>
          <a:prstGeom prst="rect">
            <a:avLst/>
          </a:prstGeom>
          <a:solidFill>
            <a:srgbClr val="87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060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2A2A"/>
                </a:solidFill>
              </a:rPr>
              <a:t>หาเมนูที่ต้องการ → ดับเบิลคลิกเซลล์ price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044952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E5E5E"/>
                </a:solidFill>
              </a:rPr>
              <a:t>เซลล์จะเข้าโหมดแก้ไข เห็น cursor กะพริบ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657600"/>
            <a:ext cx="457200" cy="457200"/>
          </a:xfrm>
          <a:prstGeom prst="rect">
            <a:avLst/>
          </a:prstGeom>
          <a:solidFill>
            <a:srgbClr val="87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6118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2A2A"/>
                </a:solidFill>
              </a:rPr>
              <a:t>พิมพ์ราคาใหม่ → กด Enter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050792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E5E5E"/>
                </a:solidFill>
              </a:rPr>
              <a:t>แอปลูกค้าอัปเดตภายใน 1–2 วินาที ไม่ต้อง deploy ใหม่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572000"/>
            <a:ext cx="11274552" cy="457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57200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3ECF8E"/>
                </a:solidFill>
                <a:latin typeface="Courier New"/>
              </a:rPr>
              <a:t>⚡ Supabase </a:t>
            </a:r>
            <a:r>
              <a:rPr sz="1300">
                <a:solidFill>
                  <a:srgbClr val="94A3B8"/>
                </a:solidFill>
                <a:latin typeface="Courier New"/>
              </a:rPr>
              <a:t>› Table Editor › menu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029200"/>
            <a:ext cx="11274552" cy="365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0292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94A3B8"/>
                </a:solidFill>
                <a:latin typeface="Courier New"/>
              </a:rPr>
              <a:t>id      </a:t>
            </a:r>
            <a:r>
              <a:rPr sz="1300">
                <a:solidFill>
                  <a:srgbClr val="94A3B8"/>
                </a:solidFill>
                <a:latin typeface="Courier New"/>
              </a:rPr>
              <a:t>name                                  </a:t>
            </a:r>
            <a:r>
              <a:rPr sz="1300">
                <a:solidFill>
                  <a:srgbClr val="94A3B8"/>
                </a:solidFill>
                <a:latin typeface="Courier New"/>
              </a:rPr>
              <a:t>price        </a:t>
            </a:r>
            <a:r>
              <a:rPr sz="1300">
                <a:solidFill>
                  <a:srgbClr val="94A3B8"/>
                </a:solidFill>
                <a:latin typeface="Courier New"/>
              </a:rPr>
              <a:t>is_available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394960"/>
            <a:ext cx="11274552" cy="548640"/>
          </a:xfrm>
          <a:prstGeom prst="rect">
            <a:avLst/>
          </a:prstGeom>
          <a:solidFill>
            <a:srgbClr val="0D2116"/>
          </a:solidFill>
          <a:ln w="25400">
            <a:solidFill>
              <a:srgbClr val="3EC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394960"/>
            <a:ext cx="110642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CBD5E1"/>
                </a:solidFill>
                <a:latin typeface="Courier New"/>
              </a:rPr>
              <a:t>1     </a:t>
            </a:r>
            <a:r>
              <a:rPr sz="1400">
                <a:solidFill>
                  <a:srgbClr val="CBD5E1"/>
                </a:solidFill>
                <a:latin typeface="Courier New"/>
              </a:rPr>
              <a:t>ขาหมูพะโล้เตาถ่าน                   </a:t>
            </a:r>
            <a:r>
              <a:rPr sz="1400">
                <a:solidFill>
                  <a:srgbClr val="FCD34D"/>
                </a:solidFill>
                <a:latin typeface="Courier New"/>
              </a:rPr>
              <a:t>200|          </a:t>
            </a:r>
            <a:r>
              <a:rPr sz="1400">
                <a:solidFill>
                  <a:srgbClr val="3ECF8E"/>
                </a:solidFill>
                <a:latin typeface="Courier New"/>
              </a:rPr>
              <a:t>✓ true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961888"/>
            <a:ext cx="11274552" cy="5486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961888"/>
            <a:ext cx="1106424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CBD5E1"/>
                </a:solidFill>
                <a:latin typeface="Courier New"/>
              </a:rPr>
              <a:t>4     </a:t>
            </a:r>
            <a:r>
              <a:rPr sz="1400">
                <a:solidFill>
                  <a:srgbClr val="CBD5E1"/>
                </a:solidFill>
                <a:latin typeface="Courier New"/>
              </a:rPr>
              <a:t>ข้าวขาหมูพะโล้                      </a:t>
            </a:r>
            <a:r>
              <a:rPr sz="1400">
                <a:solidFill>
                  <a:srgbClr val="CBD5E1"/>
                </a:solidFill>
                <a:latin typeface="Courier New"/>
              </a:rPr>
              <a:t>60            </a:t>
            </a:r>
            <a:r>
              <a:rPr sz="1400">
                <a:solidFill>
                  <a:srgbClr val="3ECF8E"/>
                </a:solidFill>
                <a:latin typeface="Courier New"/>
              </a:rPr>
              <a:t>✓ true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112745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C2626"/>
                </a:solidFill>
              </a:rPr>
              <a:t>☝️  คลิกเซลล์ price → พิมพ์ราคาใหม่ (เช่น 200) → Enter เสร็จ อัปเดตทันที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56032"/>
            <a:ext cx="2011680" cy="365760"/>
          </a:xfrm>
          <a:prstGeom prst="rect">
            <a:avLst/>
          </a:prstGeom>
          <a:solidFill>
            <a:srgbClr val="87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แก้ปัญหา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A2A2A"/>
                </a:solidFill>
              </a:rPr>
              <a:t>Supabase ขึ้น 'Paused' — ทำอย่างไร?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1247120" cy="45720"/>
          </a:xfrm>
          <a:prstGeom prst="rect">
            <a:avLst/>
          </a:prstGeom>
          <a:solidFill>
            <a:srgbClr val="EC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91440" cy="1097280"/>
          </a:xfrm>
          <a:prstGeom prst="rect">
            <a:avLst/>
          </a:prstGeom>
          <a:solidFill>
            <a:srgbClr val="CCA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11183112" cy="1097280"/>
          </a:xfrm>
          <a:prstGeom prst="rect">
            <a:avLst/>
          </a:prstGeom>
          <a:solidFill>
            <a:srgbClr val="FFF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7A5500"/>
                </a:solidFill>
              </a:rPr>
              <a:t>⚠️  Paused เกิดจากอะไร?</a:t>
            </a:r>
          </a:p>
          <a:p>
            <a:r>
              <a:rPr sz="1400">
                <a:solidFill>
                  <a:srgbClr val="2A2A2A"/>
                </a:solidFill>
              </a:rPr>
              <a:t>Supabase แบบฟรีจะหยุดทำงานอัตโนมัติถ้าไม่ได้ใช้งานนาน 7 วัน
เมนูลูกค้ายังดูได้ แต่การแก้ราคาจะยังไม่มีผล จนกว่าจะ Resume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880360"/>
            <a:ext cx="457200" cy="457200"/>
          </a:xfrm>
          <a:prstGeom prst="rect">
            <a:avLst/>
          </a:prstGeom>
          <a:solidFill>
            <a:srgbClr val="87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834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2A2A"/>
                </a:solidFill>
              </a:rPr>
              <a:t>เข้า supabase.com → Sign in → คลิกโปรเจกต์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273552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E5E5E"/>
                </a:solidFill>
              </a:rPr>
              <a:t>จะเห็นสถานะ 'Paused' หรือ 'Unhealthy'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886200"/>
            <a:ext cx="457200" cy="457200"/>
          </a:xfrm>
          <a:prstGeom prst="rect">
            <a:avLst/>
          </a:prstGeom>
          <a:solidFill>
            <a:srgbClr val="87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84048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2A2A"/>
                </a:solidFill>
              </a:rPr>
              <a:t>กดปุ่มสีเขียว 'Resume project'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279392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E5E5E"/>
                </a:solidFill>
              </a:rPr>
              <a:t>โปรเจกต์จะเริ่มต้นใหม่ ใช้เวลา 1–2 นาที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892040"/>
            <a:ext cx="457200" cy="457200"/>
          </a:xfrm>
          <a:prstGeom prst="rect">
            <a:avLst/>
          </a:prstGeom>
          <a:solidFill>
            <a:srgbClr val="87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8463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2A2A"/>
                </a:solidFill>
              </a:rPr>
              <a:t>รอ 2 นาที → กด Refresh หน้าแอปเมนู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5285232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E5E5E"/>
                </a:solidFill>
              </a:rPr>
              <a:t>ทุกอย่างกลับมาปกติ ราคาอัปเดตได้ตามเดิม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897880"/>
            <a:ext cx="91440" cy="685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897880"/>
            <a:ext cx="11183112" cy="6858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3730A3"/>
                </a:solidFill>
              </a:rPr>
              <a:t>💡 ป้องกัน Paused — เข้า Supabase สัปดาห์ละครั้ง</a:t>
            </a:r>
          </a:p>
          <a:p>
            <a:r>
              <a:rPr sz="1400">
                <a:solidFill>
                  <a:srgbClr val="2A2A2A"/>
                </a:solidFill>
              </a:rPr>
              <a:t>แค่เปิดหน้า Table Editor ก็นับว่า active แล้ว ไม่ต้องทำอะไรเพิ่ม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7A08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75504" y="77724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>
                <a:solidFill>
                  <a:srgbClr val="FFFFFF"/>
                </a:solidFill>
              </a:rPr>
              <a:t>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645920"/>
            <a:ext cx="85313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จบสไลด์แล้ว!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606040"/>
            <a:ext cx="8531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</a:rPr>
              <a:t>ดูครบแล้ว ถ้ามีคำถามอะไรเพิ่ม ทักเราทาง LINE ได้เลยครับ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3246120"/>
            <a:ext cx="7616952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23160" y="3337560"/>
            <a:ext cx="73152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A2A2A"/>
                </a:solidFill>
              </a:rPr>
              <a:t>📅 อย่าลืมนัด Zoom สอนงานจริง 30 นาที</a:t>
            </a:r>
          </a:p>
          <a:p>
            <a:r>
              <a:rPr sz="1600" b="0">
                <a:solidFill>
                  <a:srgbClr val="2A2A2A"/>
                </a:solidFill>
              </a:rPr>
              <a:t>✓  ทดลองซ่อนเมนูพร้อมกัน live</a:t>
            </a:r>
          </a:p>
          <a:p>
            <a:r>
              <a:rPr sz="1600" b="0">
                <a:solidFill>
                  <a:srgbClr val="2A2A2A"/>
                </a:solidFill>
              </a:rPr>
              <a:t>✓  ทดลองแก้ราคาใน Supabase</a:t>
            </a:r>
          </a:p>
          <a:p>
            <a:r>
              <a:rPr sz="1600" b="0">
                <a:solidFill>
                  <a:srgbClr val="2A2A2A"/>
                </a:solidFill>
              </a:rPr>
              <a:t>✓  ดูออเดอร์เข้า LINE OA จริง</a:t>
            </a:r>
          </a:p>
          <a:p>
            <a:r>
              <a:rPr sz="1600" b="0">
                <a:solidFill>
                  <a:srgbClr val="2A2A2A"/>
                </a:solidFill>
              </a:rPr>
              <a:t>✓  ตอบคำถามที่ค้างอยู่ทุกข้อ</a:t>
            </a:r>
          </a:p>
          <a:p>
            <a:r>
              <a:rPr sz="1600" b="0">
                <a:solidFill>
                  <a:srgbClr val="2A2A2A"/>
                </a:solidFill>
              </a:rPr>
              <a:t>✓  บันทึก Zoom ไว้ดูย้อนหลังได้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