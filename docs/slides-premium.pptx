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สไลด์สอนงาน · แพ็ก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สอนใช้งาน
แพ็ก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QR Code เมนูครบวงจร  ·  ออเดอร์เข้า LINE  ·  Delivery  ·  2 ภาษา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43891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57252"/>
                </a:solidFill>
              </a:rPr>
              <a:t>กด  ←  →  เพื่อเปลี่ยนสไลด์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แพ็ก Premium — ได้อะไรบ้าง?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💬  ออเดอร์เข้า LINE OA</a:t>
            </a:r>
          </a:p>
          <a:p>
            <a:r>
              <a:rPr sz="950">
                <a:solidFill>
                  <a:srgbClr val="5E5E5E"/>
                </a:solidFill>
              </a:rPr>
              <a:t>ลูกค้ากดยืนยัน → ร้านได้รับออเดอร์ครบใน LINE ทันที ไม่มีจดผิด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28016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🏠  Delivery ส่งถึงบ้าน</a:t>
            </a:r>
          </a:p>
          <a:p>
            <a:r>
              <a:rPr sz="950">
                <a:solidFill>
                  <a:srgbClr val="5E5E5E"/>
                </a:solidFill>
              </a:rPr>
              <a:t>กรอกที่อยู่ + ชำระ PromptPay ครบใน 1 ขั้นตอน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74320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🌐  2 ภาษา ไทย / EN</a:t>
            </a:r>
          </a:p>
          <a:p>
            <a:r>
              <a:rPr sz="950">
                <a:solidFill>
                  <a:srgbClr val="5E5E5E"/>
                </a:solidFill>
              </a:rPr>
              <a:t>กดปุ่มสลับ ทุกหน้าเปลี่ยนเป็นอังกฤษพร้อมกัน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74320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🎛️  ตัวเลือกเมนูครบ</a:t>
            </a:r>
          </a:p>
          <a:p>
            <a:r>
              <a:rPr sz="950">
                <a:solidFill>
                  <a:srgbClr val="5E5E5E"/>
                </a:solidFill>
              </a:rPr>
              <a:t>ขนาด · ประเภทเนื้อ · ท็อปปิ้ง · ความหวาน ราคาปรับอัตโนมัติ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20624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✏️  แก้ราคาเองได้</a:t>
            </a:r>
          </a:p>
          <a:p>
            <a:r>
              <a:rPr sz="950">
                <a:solidFill>
                  <a:srgbClr val="5E5E5E"/>
                </a:solidFill>
              </a:rPr>
              <a:t>Supabase Dashboard — คลิก แก้ Enter เสร็จ ไม่ต้องรอเรา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206240"/>
            <a:ext cx="4160520" cy="128016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👁️  ซ่อน/แสดงเมนู</a:t>
            </a:r>
          </a:p>
          <a:p>
            <a:r>
              <a:rPr sz="950">
                <a:solidFill>
                  <a:srgbClr val="5E5E5E"/>
                </a:solidFill>
              </a:rPr>
              <a:t>ของหมด — ซ่อนได้ 1 คลิก โดยไม่ต้องลบออกถาวร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Dine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ขั้นตอนลูกค้าทานที่ร้าน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234440" cy="73152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📷  สแกน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3624" y="148132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1368" y="1280160"/>
            <a:ext cx="1234440" cy="73152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🪑  เลือกโต๊ะ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148132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696" y="1280160"/>
            <a:ext cx="1234440" cy="73152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🍽️  เลือกเมนู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48132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4024" y="1280160"/>
            <a:ext cx="1234440" cy="73152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🛒  ตรวจตะกร้า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148132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1234440" cy="73152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💳  จ่ายเงิน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1481328"/>
            <a:ext cx="16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280160"/>
            <a:ext cx="1234440" cy="731520"/>
          </a:xfrm>
          <a:prstGeom prst="rect">
            <a:avLst/>
          </a:prstGeom>
          <a:solidFill>
            <a:srgbClr val="EEFFDD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A2A2A"/>
                </a:solidFill>
              </a:rPr>
              <a:t>💬  เข้า LINE ร้าน!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854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เปิดกล้องมือถือ → สแกน QR ที่โต๊ะ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505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ไม่ต้องโหลดแอป ใช้กล้องปกติได้เลย ทั้ง iPhone และ Android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8269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เลือกหมายเลขโต๊ะ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478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โต๊ะติดมากับออเดอร์อัตโนมัติ ร้านไม่ต้องถามใหม่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7997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เลือกเมนู → เลือกตัวเลือก → เพิ่มลงตะกร้า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ขนาด / ประเภทเนื้อ / ความหวาน — ราคาปรับอัตโนมัติทุกตัวเลือก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8640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7725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ตรวจรายการ → กดยืนยัน → เลือกวิธีชำระ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4243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QR PromptPay หรือเงินสด — ออเดอร์เข้า LINE ร้านทันที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LINE 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ออเดอร์ที่เข้ามาใน LINE ร้าน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754880" cy="4114800"/>
          </a:xfrm>
          <a:prstGeom prst="rect">
            <a:avLst/>
          </a:prstGeom>
          <a:solidFill>
            <a:srgbClr val="EEFFDD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E5E5E"/>
                </a:solidFill>
              </a:rPr>
              <a:t>📩 ออเดอร์ใหม่ · จากระบบเมนู QR</a:t>
            </a:r>
          </a:p>
          <a:p>
            <a:pPr algn="l"/>
            <a:r>
              <a:rPr sz="1400" b="1">
                <a:solidFill>
                  <a:srgbClr val="2A2A2A"/>
                </a:solidFill>
              </a:rPr>
              <a:t>🍖 ออเดอร์ใหม่! โต๊ะ 3</a:t>
            </a:r>
          </a:p>
          <a:p>
            <a:pPr algn="l"/>
            <a:r>
              <a:rPr sz="1100" b="0">
                <a:solidFill>
                  <a:srgbClr val="2A2A2A"/>
                </a:solidFill>
              </a:rPr>
              <a:t>ขาหมูพะโล้เตาถ่าน (ชุดใหญ่)  .....  180฿</a:t>
            </a:r>
          </a:p>
          <a:p>
            <a:pPr algn="l"/>
            <a:r>
              <a:rPr sz="1100" b="0">
                <a:solidFill>
                  <a:srgbClr val="2A2A2A"/>
                </a:solidFill>
              </a:rPr>
              <a:t>ข้าวขาหมูพะโล้ × 2  ..................  120฿</a:t>
            </a:r>
          </a:p>
          <a:p>
            <a:pPr algn="l"/>
            <a:r>
              <a:rPr sz="1100" b="0">
                <a:solidFill>
                  <a:srgbClr val="2A2A2A"/>
                </a:solidFill>
              </a:rPr>
              <a:t>กาแฟลาเต้เย็น (M) หวานน้อย  ....  75฿</a:t>
            </a:r>
          </a:p>
          <a:p>
            <a:pPr algn="l"/>
            <a:r>
              <a:rPr sz="800" b="0">
                <a:solidFill>
                  <a:srgbClr val="86EFAC"/>
                </a:solidFill>
              </a:rPr>
              <a:t>─────────────────────────────</a:t>
            </a:r>
          </a:p>
          <a:p>
            <a:pPr algn="l"/>
            <a:r>
              <a:rPr sz="1300" b="1">
                <a:solidFill>
                  <a:srgbClr val="2A2A2A"/>
                </a:solidFill>
              </a:rPr>
              <a:t>💰 ยอดรวม  ..............................  375฿</a:t>
            </a:r>
          </a:p>
          <a:p>
            <a:pPr algn="l"/>
            <a:r>
              <a:rPr sz="1000" b="0">
                <a:solidFill>
                  <a:srgbClr val="5E5E5E"/>
                </a:solidFill>
              </a:rPr>
              <a:t>💳 ชำระ  .......................  QR PromptPay</a:t>
            </a:r>
          </a:p>
          <a:p>
            <a:pPr algn="l"/>
            <a:r>
              <a:rPr sz="1000" b="0">
                <a:solidFill>
                  <a:srgbClr val="5E5E5E"/>
                </a:solidFill>
              </a:rPr>
              <a:t>📝 หมายเหตุ  ......................  ไม่ใส่ผัก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325880"/>
            <a:ext cx="3566160" cy="12801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66534"/>
                </a:solidFill>
              </a:rPr>
              <a:t>✅ ข้อมูลครบทุกอย่าง ไม่ต้องถามเพิ่ม</a:t>
            </a:r>
          </a:p>
          <a:p>
            <a:r>
              <a:rPr sz="1000">
                <a:solidFill>
                  <a:srgbClr val="2A2A2A"/>
                </a:solidFill>
              </a:rPr>
              <a:t>โต๊ะ · รายการ · ราคา · วิธีชำระ · หมายเหตุ
ร้านรับออเดอร์และเริ่มทำได้เลย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325880"/>
            <a:ext cx="4572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2743200"/>
            <a:ext cx="3566160" cy="1280160"/>
          </a:xfrm>
          <a:prstGeom prst="rect">
            <a:avLst/>
          </a:prstGeom>
          <a:solidFill>
            <a:srgbClr val="ECF2EB"/>
          </a:solidFill>
          <a:ln w="25400">
            <a:solidFill>
              <a:srgbClr val="87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557252"/>
                </a:solidFill>
              </a:rPr>
              <a:t>💳 ลูกค้าเลือก QR PromptPay</a:t>
            </a:r>
          </a:p>
          <a:p>
            <a:r>
              <a:rPr sz="1000">
                <a:solidFill>
                  <a:srgbClr val="2A2A2A"/>
                </a:solidFill>
              </a:rPr>
              <a:t>แสดง QR บนหน้าจอ → ลูกค้าสแกนโอน
แคปสลิปส่ง LINE OA → ร้านยืนยัน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743200"/>
            <a:ext cx="45720" cy="12801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ขั้นตอนลูกค้าสั่งส่งถึงบ้าน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71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หน้าแรก → กดปุ่ม 'ส่งถึงบ้าน'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ปุ่มอยู่หน้าแรก ก่อนเลือกโต๊ะ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เลือกเมนูและตัวเลือก เหมือน Dine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ใส่ตะกร้าได้หลายรายการ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กรอกข้อมูลจัดส่ง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ชื่อ · เบอร์โทร · ที่อยู่ · เลือกรอบส่ง (เช้า 11:00 / บ่าย 14:00)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ชำระ QR PromptPay → แคปสลิป → ส่ง LINE OA ร้าน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พร้อมส่ง Pin โลเคชั่นบ้านด้วย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ร้านได้รับออเดอร์ + ที่อยู่ + สลิป ครบใน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ยืนยันออเดอร์ → จัดส่งตามรอบที่ลูกค้าเลือก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989320"/>
            <a:ext cx="8412480" cy="73152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730A3"/>
                </a:solidFill>
              </a:rPr>
              <a:t>💡 แนะนำตั้ง 2 รอบส่ง</a:t>
            </a:r>
          </a:p>
          <a:p>
            <a:r>
              <a:rPr sz="1000">
                <a:solidFill>
                  <a:srgbClr val="2A2A2A"/>
                </a:solidFill>
              </a:rPr>
              <a:t>เช้า (11:00) และบ่าย (14:00) ลูกค้าเลือกเอง
ร้านรวมออเดอร์ส่งครั้งเดียว ประหยัดเวลา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4572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⭐ สำคัญ — เน้นเป็นพิเศษ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ซ่อน / แสดง
เมนูชั่วคราว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69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เมื่อวัตถุดิบหมด หรืออยากปิดเมนูชั่วคราว
ทำได้เองใน 3 คลิก โดยไม่ต้องลบ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ซ่อนเมนู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ใช้ซ่อนเมนูเมื่อไร?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8503920" cy="123444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2A2A"/>
                </a:solidFill>
              </a:rPr>
              <a:t>🥩  วัตถุดิบหมดวันนั้น</a:t>
            </a:r>
          </a:p>
          <a:p>
            <a:r>
              <a:rPr sz="1100">
                <a:solidFill>
                  <a:srgbClr val="5E5E5E"/>
                </a:solidFill>
              </a:rPr>
              <a:t>เช่น ขาหมูขายหมดแล้วก่อนร้านปิด ซ่อนออกไม่ให้ลูกค้าสั่งเพิ่ม วันรุ่งขึ้นเปิดกลับมา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697480"/>
            <a:ext cx="8503920" cy="123444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2A2A"/>
                </a:solidFill>
              </a:rPr>
              <a:t>⏸️  ปิดเมนูชั่วคราว</a:t>
            </a:r>
          </a:p>
          <a:p>
            <a:r>
              <a:rPr sz="1100">
                <a:solidFill>
                  <a:srgbClr val="5E5E5E"/>
                </a:solidFill>
              </a:rPr>
              <a:t>เมนูฤดูกาล หรือรับออเดอร์ได้บางวัน ซ่อนแทนการลบ เปิดได้ตลอดเวลา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114800"/>
            <a:ext cx="8503920" cy="123444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2A2A"/>
                </a:solidFill>
              </a:rPr>
              <a:t>🔧  อยู่ระหว่างปรับราคา</a:t>
            </a:r>
          </a:p>
          <a:p>
            <a:r>
              <a:rPr sz="1100">
                <a:solidFill>
                  <a:srgbClr val="5E5E5E"/>
                </a:solidFill>
              </a:rPr>
              <a:t>ซ่อนไว้ก่อนระหว่างแก้ราคา แก้เสร็จแล้วค่อยเปิดให้ลูกค้าเห็น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623560"/>
            <a:ext cx="8503920" cy="8229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66534"/>
                </a:solidFill>
              </a:rPr>
              <a:t>✅ ซ่อน ≠ ลบ — ข้อมูลยังอยู่ครบ</a:t>
            </a:r>
          </a:p>
          <a:p>
            <a:r>
              <a:rPr sz="1000">
                <a:solidFill>
                  <a:srgbClr val="2A2A2A"/>
                </a:solidFill>
              </a:rPr>
              <a:t>เปลี่ยนกลับได้ตลอดเวลา ลูกค้าไม่เห็น แต่ข้อมูลในระบบยังอยู่ครบ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623560"/>
            <a:ext cx="4572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ซ่อนเมนู · ขั้น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เปิดเว็บ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71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เปิดเบราว์เซอร์ → พิมพ์ supabase.com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6829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กด Sign in → กรอก Email +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ใช้ email และ password ที่เราส่งให้ทาง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6557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คลิกชื่อโปรเจกต์ร้านของคุณ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จะเห็นชื่อร้านในหน้าแรก กดคลิกเข้าไป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6285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เมนูซ้ายมือ → กด 'Table Editor' → คลิกตาราง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จะเห็นรายการตาราง → คลิกตาราง menu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760720"/>
            <a:ext cx="8412480" cy="91440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730A3"/>
                </a:solidFill>
              </a:rPr>
              <a:t>💡 เคล็ดลับ: Bookmark ไว้เลย!</a:t>
            </a:r>
          </a:p>
          <a:p>
            <a:r>
              <a:rPr sz="1000">
                <a:solidFill>
                  <a:srgbClr val="2A2A2A"/>
                </a:solidFill>
              </a:rPr>
              <a:t>เข้า Table Editor ครั้งแรกแล้ว กด Bookmark ในเบราว์เซอร์ไว้เลย
ครั้งต่อไปกดบุ๊กมาร์กได้ทันที ไม่ต้องคลิกหลายขั้น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60720"/>
            <a:ext cx="4572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ซ่อนเมนู · ขั้น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หน้าตา Table Editor จริง ๆ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85039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3ECF8E"/>
                </a:solidFill>
              </a:rPr>
              <a:t>⚡ Supabase</a:t>
            </a:r>
            <a:r>
              <a:rPr sz="1000" b="0">
                <a:solidFill>
                  <a:srgbClr val="94A3B8"/>
                </a:solidFill>
              </a:rPr>
              <a:t>  ›  ร้านข้าวขาหมู  ›  Table Editor  ›  </a:t>
            </a:r>
            <a:r>
              <a:rPr sz="1000" b="1">
                <a:solidFill>
                  <a:srgbClr val="3ECF8E"/>
                </a:solidFill>
              </a:rPr>
              <a:t>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850392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4A3B8"/>
                </a:solidFill>
              </a:rPr>
              <a:t>Authentication   </a:t>
            </a:r>
            <a:r>
              <a:rPr sz="900">
                <a:solidFill>
                  <a:srgbClr val="3ECF8E"/>
                </a:solidFill>
              </a:rPr>
              <a:t>● Table Editor   </a:t>
            </a:r>
            <a:r>
              <a:rPr sz="900">
                <a:solidFill>
                  <a:srgbClr val="94A3B8"/>
                </a:solidFill>
              </a:rPr>
              <a:t>SQL Editor  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850392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94A3B8"/>
                </a:solidFill>
              </a:rPr>
              <a:t>id                    </a:t>
            </a:r>
            <a:r>
              <a:rPr sz="900" b="1">
                <a:solidFill>
                  <a:srgbClr val="94A3B8"/>
                </a:solidFill>
              </a:rPr>
              <a:t>name (ชื่อเมนู)       </a:t>
            </a:r>
            <a:r>
              <a:rPr sz="900" b="1">
                <a:solidFill>
                  <a:srgbClr val="94A3B8"/>
                </a:solidFill>
              </a:rPr>
              <a:t>price                 </a:t>
            </a:r>
            <a:r>
              <a:rPr sz="900" b="1">
                <a:solidFill>
                  <a:srgbClr val="94A3B8"/>
                </a:solidFill>
              </a:rPr>
              <a:t>is_available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850392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CBD5E1"/>
                </a:solidFill>
              </a:rPr>
              <a:t>1       </a:t>
            </a:r>
            <a:r>
              <a:rPr sz="1000" b="0">
                <a:solidFill>
                  <a:srgbClr val="CBD5E1"/>
                </a:solidFill>
              </a:rPr>
              <a:t>ขาหมูพะโล้เตาถ่าน             </a:t>
            </a:r>
            <a:r>
              <a:rPr sz="1000" b="0">
                <a:solidFill>
                  <a:srgbClr val="CBD5E1"/>
                </a:solidFill>
              </a:rPr>
              <a:t>180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850392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CBD5E1"/>
                </a:solidFill>
              </a:rPr>
              <a:t>5       </a:t>
            </a:r>
            <a:r>
              <a:rPr sz="1000" b="0">
                <a:solidFill>
                  <a:srgbClr val="CBD5E1"/>
                </a:solidFill>
              </a:rPr>
              <a:t>ชุดไส้พะโล้เตาถ่าน            </a:t>
            </a:r>
            <a:r>
              <a:rPr sz="1000" b="0">
                <a:solidFill>
                  <a:srgbClr val="CBD5E1"/>
                </a:solidFill>
              </a:rPr>
              <a:t>120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850392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CBD5E1"/>
                </a:solidFill>
              </a:rPr>
              <a:t>4       </a:t>
            </a:r>
            <a:r>
              <a:rPr sz="1000" b="0">
                <a:solidFill>
                  <a:srgbClr val="CBD5E1"/>
                </a:solidFill>
              </a:rPr>
              <a:t>ข้าวขาหมูพะโล้                </a:t>
            </a:r>
            <a:r>
              <a:rPr sz="1000" b="0">
                <a:solidFill>
                  <a:srgbClr val="CBD5E1"/>
                </a:solidFill>
              </a:rPr>
              <a:t>60 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03320"/>
            <a:ext cx="8503920" cy="4389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0">
                <a:solidFill>
                  <a:srgbClr val="CBD5E1"/>
                </a:solidFill>
              </a:rPr>
              <a:t>7       </a:t>
            </a:r>
            <a:r>
              <a:rPr sz="1000" b="0">
                <a:solidFill>
                  <a:srgbClr val="CBD5E1"/>
                </a:solidFill>
              </a:rPr>
              <a:t>กาแฟสด Premium                </a:t>
            </a:r>
            <a:r>
              <a:rPr sz="1000" b="0">
                <a:solidFill>
                  <a:srgbClr val="CBD5E1"/>
                </a:solidFill>
              </a:rPr>
              <a:t>65 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51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☝️  คอลัมน์ is_available คือตัวควบคุม —  true = แสดงในเมนู  ·  false = ซ่อนจากลูกค้า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46320"/>
            <a:ext cx="8503920" cy="822960"/>
          </a:xfrm>
          <a:prstGeom prst="rect">
            <a:avLst/>
          </a:prstGeom>
          <a:solidFill>
            <a:srgbClr val="ECF2EB"/>
          </a:solidFill>
          <a:ln w="25400">
            <a:solidFill>
              <a:srgbClr val="87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557252"/>
                </a:solidFill>
              </a:rPr>
              <a:t>ℹ️ is_available แปลตรง ๆ ว่า 'มีพร้อมสั่งไหม?'</a:t>
            </a:r>
          </a:p>
          <a:p>
            <a:r>
              <a:rPr sz="1000">
                <a:solidFill>
                  <a:srgbClr val="2A2A2A"/>
                </a:solidFill>
              </a:rPr>
              <a:t>true = มี (ลูกค้าเห็น)  ·  false = ไม่มี (ลูกค้าไม่เห็น แต่ข้อมูลยังอยู่)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46320"/>
            <a:ext cx="45720" cy="8229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ซ่อนเมนู · ขั้น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คลิกเซลล์ → พิมพ์ false → 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</a:rPr>
              <a:t>ตัวอย่าง: ต้องการซ่อน 'ชุดไส้พะโล้' เพราะขายหมด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850392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ECF8E"/>
                </a:solidFill>
              </a:rPr>
              <a:t>⚡ Supabase</a:t>
            </a:r>
            <a:r>
              <a:rPr sz="1000" b="0">
                <a:solidFill>
                  <a:srgbClr val="94A3B8"/>
                </a:solidFill>
              </a:rPr>
              <a:t>  ›  Table Editor ›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94A3B8"/>
                </a:solidFill>
              </a:rPr>
              <a:t>id        </a:t>
            </a:r>
            <a:r>
              <a:rPr sz="900" b="1">
                <a:solidFill>
                  <a:srgbClr val="94A3B8"/>
                </a:solidFill>
              </a:rPr>
              <a:t>name (ชื่อเมนู)               </a:t>
            </a:r>
            <a:r>
              <a:rPr sz="900" b="1">
                <a:solidFill>
                  <a:srgbClr val="94A3B8"/>
                </a:solidFill>
              </a:rPr>
              <a:t>price     </a:t>
            </a:r>
            <a:r>
              <a:rPr sz="900" b="1">
                <a:solidFill>
                  <a:srgbClr val="94A3B8"/>
                </a:solidFill>
              </a:rPr>
              <a:t>is_available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0280"/>
            <a:ext cx="85039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CBD5E1"/>
                </a:solidFill>
              </a:rPr>
              <a:t>1       </a:t>
            </a:r>
            <a:r>
              <a:rPr sz="1000" b="0">
                <a:solidFill>
                  <a:srgbClr val="CBD5E1"/>
                </a:solidFill>
              </a:rPr>
              <a:t>ขาหมูพะโล้เตาถ่าน             </a:t>
            </a:r>
            <a:r>
              <a:rPr sz="1000" b="0">
                <a:solidFill>
                  <a:srgbClr val="CBD5E1"/>
                </a:solidFill>
              </a:rPr>
              <a:t>180         </a:t>
            </a:r>
            <a:r>
              <a:rPr sz="1000" b="1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43200"/>
            <a:ext cx="8503920" cy="475488"/>
          </a:xfrm>
          <a:prstGeom prst="rect">
            <a:avLst/>
          </a:prstGeom>
          <a:solidFill>
            <a:srgbClr val="0D2116"/>
          </a:solidFill>
          <a:ln w="2540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CBD5E1"/>
                </a:solidFill>
              </a:rPr>
              <a:t>5       </a:t>
            </a:r>
            <a:r>
              <a:rPr sz="1000" b="1">
                <a:solidFill>
                  <a:srgbClr val="FCD34D"/>
                </a:solidFill>
              </a:rPr>
              <a:t>ชุดไส้พะโล้เตาถ่าน            </a:t>
            </a:r>
            <a:r>
              <a:rPr sz="1000" b="0">
                <a:solidFill>
                  <a:srgbClr val="CBD5E1"/>
                </a:solidFill>
              </a:rPr>
              <a:t>120         </a:t>
            </a:r>
            <a:r>
              <a:rPr sz="1000" b="1">
                <a:solidFill>
                  <a:srgbClr val="F87171"/>
                </a:solidFill>
              </a:rPr>
              <a:t>false|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85039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CBD5E1"/>
                </a:solidFill>
              </a:rPr>
              <a:t>4       </a:t>
            </a:r>
            <a:r>
              <a:rPr sz="1000" b="0">
                <a:solidFill>
                  <a:srgbClr val="CBD5E1"/>
                </a:solidFill>
              </a:rPr>
              <a:t>ข้าวขาหมูพะโล้                </a:t>
            </a:r>
            <a:r>
              <a:rPr sz="1000" b="0">
                <a:solidFill>
                  <a:srgbClr val="CBD5E1"/>
                </a:solidFill>
              </a:rPr>
              <a:t>60          </a:t>
            </a:r>
            <a:r>
              <a:rPr sz="1000" b="1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3075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⬆️  แถวนี้กำลังแก้ไข — พิมพ์  false  แล้วกด  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519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428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ดับเบิลคลิกที่เซลล์ is_available ของเมนูที่ต้องการซ่อน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07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เซลล์จะเปลี่ยนเป็นโหมดแก้ไข (เห็น cursor กะพริบ)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572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ลบค่าเดิม พิมพ์ false (ตัวพิมพ์เล็กทั้งหมด) → 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223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เมนูหายจากแอปลูกค้าทันที ไม่ต้อง Refresh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ซ่อนเมนู · ผลลัพธ์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ลูกค้าเห็นอะไรก่อน/หลังซ่อน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160520" cy="411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1B1B"/>
                </a:solidFill>
              </a:rPr>
              <a:t>ก่อนซ่อน 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🍖 ขาหมูพะโล้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180฿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50008"/>
            <a:ext cx="3977639" cy="50292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41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2A2A"/>
                </a:solidFill>
              </a:rPr>
              <a:t>🫀 ชุดไส้พะโล้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414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A2A2A"/>
                </a:solidFill>
              </a:rPr>
              <a:t>120฿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16936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08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🍚 ข้าวขาหมู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083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60฿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83864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75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☕ กาแฟสด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7530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65฿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280160"/>
            <a:ext cx="416052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2801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6534"/>
                </a:solidFill>
              </a:rPr>
              <a:t>หลังซ่อน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783080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874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🍖 ขาหมูพะโล้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745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180฿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350008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441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🍚 ข้าวขาหมู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4414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60฿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916936"/>
            <a:ext cx="39776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008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☕ กาแฟสด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0083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65฿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50215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✓ 'ชุดไส้' หายออกไปแล้ว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92040"/>
            <a:ext cx="8503920" cy="777240"/>
          </a:xfrm>
          <a:prstGeom prst="rect">
            <a:avLst/>
          </a:prstGeom>
          <a:solidFill>
            <a:srgbClr val="FFF9E6"/>
          </a:solidFill>
          <a:ln w="25400">
            <a:solidFill>
              <a:srgbClr val="CCA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7A5500"/>
                </a:solidFill>
              </a:rPr>
              <a:t>↩️ อยากเปิดกลับมา?</a:t>
            </a:r>
          </a:p>
          <a:p>
            <a:r>
              <a:rPr sz="1000">
                <a:solidFill>
                  <a:srgbClr val="2A2A2A"/>
                </a:solidFill>
              </a:rPr>
              <a:t>กลับไป Supabase → ดับเบิลคลิกเซลล์เดิม → พิมพ์ true → Enter  เมนูกลับมาทันที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45720" cy="777240"/>
          </a:xfrm>
          <a:prstGeom prst="rect">
            <a:avLst/>
          </a:prstGeom>
          <a:solidFill>
            <a:srgbClr val="CCA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760720"/>
            <a:ext cx="8503920" cy="77724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66534"/>
                </a:solidFill>
              </a:rPr>
              <a:t>✅ ซ่อนไม่ลบ — ข้อมูลไม่หายไปไหน</a:t>
            </a:r>
          </a:p>
          <a:p>
            <a:r>
              <a:rPr sz="1000">
                <a:solidFill>
                  <a:srgbClr val="2A2A2A"/>
                </a:solidFill>
              </a:rPr>
              <a:t>รูปภาพ ราคา ตัวเลือก ทุกอย่างยังอยู่ครบ แค่ลูกค้าไม่เห็นชั่วคราว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760720"/>
            <a:ext cx="45720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💡 ข้อเสนอแนะ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วิธีเร็วกว่า — ใช้ SQL แทน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8503920" cy="100584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730A3"/>
                </a:solidFill>
              </a:rPr>
              <a:t>🎯 ทำไม SQL ถึงง่ายกว่า Table Editor?</a:t>
            </a:r>
          </a:p>
          <a:p>
            <a:r>
              <a:rPr sz="1000">
                <a:solidFill>
                  <a:srgbClr val="2A2A2A"/>
                </a:solidFill>
              </a:rPr>
              <a:t>Table Editor: ต้องหาแถว → เลื่อนหา column → คลิก → แก้
SQL: แค่พิมพ์ชื่อเมนู → กด Run → เสร็จ ใช้เวลาไม่ถึง 10 วินาที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572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231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</a:rPr>
              <a:t>เมนูซ้าย → SQL Editor → New Query → วางโค้ดนี้ → กด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788920"/>
            <a:ext cx="850392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0">
                <a:solidFill>
                  <a:srgbClr val="475569"/>
                </a:solidFill>
                <a:latin typeface="Courier New"/>
              </a:rPr>
              <a:t>-- 🙈 ซ่อนเมนู (เปลี่ยนแค่ชื่อเมนู)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UPDATE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public.menu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SET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is_available = </a:t>
            </a:r>
            <a:r>
              <a:rPr sz="1000" b="1">
                <a:solidFill>
                  <a:srgbClr val="86EFAC"/>
                </a:solidFill>
                <a:latin typeface="Courier New"/>
              </a:rPr>
              <a:t>false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WHERE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name </a:t>
            </a:r>
            <a:r>
              <a:rPr sz="1000" b="1">
                <a:solidFill>
                  <a:srgbClr val="C084FC"/>
                </a:solidFill>
                <a:latin typeface="Courier New"/>
              </a:rPr>
              <a:t>ILIKE </a:t>
            </a:r>
            <a:r>
              <a:rPr sz="1000" b="0">
                <a:solidFill>
                  <a:srgbClr val="86EFAC"/>
                </a:solidFill>
                <a:latin typeface="Courier New"/>
              </a:rPr>
              <a:t>'%ชุดไส้%';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ourier New"/>
              </a:rPr>
              <a:t>-- 👁️ เปิดกลับมา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UPDATE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public.menu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SET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is_available = </a:t>
            </a:r>
            <a:r>
              <a:rPr sz="1000" b="1">
                <a:solidFill>
                  <a:srgbClr val="86EFAC"/>
                </a:solidFill>
                <a:latin typeface="Courier New"/>
              </a:rPr>
              <a:t>true</a:t>
            </a:r>
          </a:p>
          <a:p>
            <a:pPr algn="l"/>
            <a:r>
              <a:rPr sz="1000" b="1">
                <a:solidFill>
                  <a:srgbClr val="C084FC"/>
                </a:solidFill>
                <a:latin typeface="Courier New"/>
              </a:rPr>
              <a:t>WHERE </a:t>
            </a:r>
            <a:r>
              <a:rPr sz="1000" b="0">
                <a:solidFill>
                  <a:srgbClr val="7DD3FC"/>
                </a:solidFill>
                <a:latin typeface="Courier New"/>
              </a:rPr>
              <a:t>name </a:t>
            </a:r>
            <a:r>
              <a:rPr sz="1000" b="1">
                <a:solidFill>
                  <a:srgbClr val="C084FC"/>
                </a:solidFill>
                <a:latin typeface="Courier New"/>
              </a:rPr>
              <a:t>ILIKE </a:t>
            </a:r>
            <a:r>
              <a:rPr sz="1000" b="0">
                <a:solidFill>
                  <a:srgbClr val="86EFAC"/>
                </a:solidFill>
                <a:latin typeface="Courier New"/>
              </a:rPr>
              <a:t>'%ชุดไส้%';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846320"/>
            <a:ext cx="8503920" cy="77724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730A3"/>
                </a:solidFill>
              </a:rPr>
              <a:t>✏️ เปลี่ยนแค่ 'ชุดไส้' = ชื่อ (หรือส่วนของชื่อ) เมนูที่ต้องการซ่อน</a:t>
            </a:r>
          </a:p>
          <a:p>
            <a:r>
              <a:rPr sz="1000">
                <a:solidFill>
                  <a:srgbClr val="2A2A2A"/>
                </a:solidFill>
              </a:rPr>
              <a:t>เช่น ถ้าต้องการซ่อน 'ขาหมูพะโล้เตาถ่าน' ก็พิมพ์  ขาหมู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846320"/>
            <a:ext cx="4572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742432"/>
            <a:ext cx="8503920" cy="822960"/>
          </a:xfrm>
          <a:prstGeom prst="rect">
            <a:avLst/>
          </a:prstGeom>
          <a:solidFill>
            <a:srgbClr val="FFF9E6"/>
          </a:solidFill>
          <a:ln w="25400">
            <a:solidFill>
              <a:srgbClr val="CCA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7A5500"/>
                </a:solidFill>
              </a:rPr>
              <a:t>⚠️ ILIKE คืออะไร?</a:t>
            </a:r>
          </a:p>
          <a:p>
            <a:r>
              <a:rPr sz="1000">
                <a:solidFill>
                  <a:srgbClr val="2A2A2A"/>
                </a:solidFill>
              </a:rPr>
              <a:t>คือค้นหาชื่อที่มีคำนั้นอยู่ เช่น '%ไส้%' จับทุกเมนูที่มีคำว่า 'ไส้' ในชื่อ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742432"/>
            <a:ext cx="45720" cy="822960"/>
          </a:xfrm>
          <a:prstGeom prst="rect">
            <a:avLst/>
          </a:prstGeom>
          <a:solidFill>
            <a:srgbClr val="CCA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แก้ราคา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แก้ราคาเมนูด้วยตัวเอง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71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Supabase → Table Editor → ตาราง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เห็นรายการเมนูทั้งหมด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หาเมนูที่ต้องการ → ดับเบิลคลิกเซลล์ 'price'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คลิกที่ตัวเลขราคา เซลล์จะเข้าโหมดแก้ไข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พิมพ์ราคาใหม่ → กด 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แอปลูกค้าอัปเดตภายใน 1–2 วินาที ไม่ต้อง deploy ใหม่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51960"/>
            <a:ext cx="850392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ECF8E"/>
                </a:solidFill>
              </a:rPr>
              <a:t>⚡ Supabase</a:t>
            </a:r>
            <a:r>
              <a:rPr sz="1000" b="0">
                <a:solidFill>
                  <a:srgbClr val="94A3B8"/>
                </a:solidFill>
              </a:rPr>
              <a:t>  ›  Table Editor › menu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94A3B8"/>
                </a:solidFill>
              </a:rPr>
              <a:t>id        </a:t>
            </a:r>
            <a:r>
              <a:rPr sz="900" b="1">
                <a:solidFill>
                  <a:srgbClr val="94A3B8"/>
                </a:solidFill>
              </a:rPr>
              <a:t>name                          </a:t>
            </a:r>
            <a:r>
              <a:rPr sz="900" b="1">
                <a:solidFill>
                  <a:srgbClr val="94A3B8"/>
                </a:solidFill>
              </a:rPr>
              <a:t>price          </a:t>
            </a:r>
            <a:r>
              <a:rPr sz="900" b="1">
                <a:solidFill>
                  <a:srgbClr val="94A3B8"/>
                </a:solidFill>
              </a:rPr>
              <a:t>is_available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37760"/>
            <a:ext cx="8503920" cy="457200"/>
          </a:xfrm>
          <a:prstGeom prst="rect">
            <a:avLst/>
          </a:prstGeom>
          <a:solidFill>
            <a:srgbClr val="0D2116"/>
          </a:solidFill>
          <a:ln w="2540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CBD5E1"/>
                </a:solidFill>
              </a:rPr>
              <a:t>1       </a:t>
            </a:r>
            <a:r>
              <a:rPr sz="1000" b="0">
                <a:solidFill>
                  <a:srgbClr val="CBD5E1"/>
                </a:solidFill>
              </a:rPr>
              <a:t>ขาหมูพะโล้เตาถ่าน               </a:t>
            </a:r>
            <a:r>
              <a:rPr sz="1000" b="1">
                <a:solidFill>
                  <a:srgbClr val="FCD34D"/>
                </a:solidFill>
              </a:rPr>
              <a:t>200|   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413248"/>
            <a:ext cx="850392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CBD5E1"/>
                </a:solidFill>
              </a:rPr>
              <a:t>4       </a:t>
            </a:r>
            <a:r>
              <a:rPr sz="1000" b="0">
                <a:solidFill>
                  <a:srgbClr val="CBD5E1"/>
                </a:solidFill>
              </a:rPr>
              <a:t>ข้าวขาหมูพะโล้                  </a:t>
            </a:r>
            <a:r>
              <a:rPr sz="1000" b="0">
                <a:solidFill>
                  <a:srgbClr val="CBD5E1"/>
                </a:solidFill>
              </a:rPr>
              <a:t>60              </a:t>
            </a:r>
            <a:r>
              <a:rPr sz="1000" b="0">
                <a:solidFill>
                  <a:srgbClr val="3ECF8E"/>
                </a:solidFill>
              </a:rPr>
              <a:t>✓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989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☝️  คลิกเซลล์ price → พิมพ์ราคาใหม่ (200) → กด Enter เสร็จ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แก้ปัญหา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2A2A"/>
                </a:solidFill>
              </a:rPr>
              <a:t>Supabase ขึ้น 'Paused' — ทำอย่างไร?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9144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8503920" cy="960120"/>
          </a:xfrm>
          <a:prstGeom prst="rect">
            <a:avLst/>
          </a:prstGeom>
          <a:solidFill>
            <a:srgbClr val="FFF9E6"/>
          </a:solidFill>
          <a:ln w="25400">
            <a:solidFill>
              <a:srgbClr val="CCA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7A5500"/>
                </a:solidFill>
              </a:rPr>
              <a:t>⚠️ Paused เกิดจากอะไร?</a:t>
            </a:r>
          </a:p>
          <a:p>
            <a:r>
              <a:rPr sz="1000">
                <a:solidFill>
                  <a:srgbClr val="2A2A2A"/>
                </a:solidFill>
              </a:rPr>
              <a:t>Supabase แบบฟรีจะหยุดทำงานอัตโนมัติถ้าไม่ได้ใช้งาน 7 วัน
เมนูลูกค้ายังดูได้ แต่การแก้ราคาจะยังไม่มีผล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5720" cy="960120"/>
          </a:xfrm>
          <a:prstGeom prst="rect">
            <a:avLst/>
          </a:prstGeom>
          <a:solidFill>
            <a:srgbClr val="CCA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14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เข้า supabase.com → Sign in → คลิกโปรเจกต์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จะเห็นสถานะ 'Paused' หรือ 'Unhealthy'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กดปุ่มสีเขียว 'Resume project'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โปรเจกต์จะเริ่มต้นใหม่ ใช้เวลา 1–2 นาที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347472" cy="347472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428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</a:rPr>
              <a:t>รอ 2 นาที → กด Refresh หน้าแอปเมนู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07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E5E5E"/>
                </a:solidFill>
              </a:rPr>
              <a:t>ทุกอย่างกลับมาปกติ ราคาอัปเดตได้ตามเดิม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349240"/>
            <a:ext cx="8503920" cy="77724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730A3"/>
                </a:solidFill>
              </a:rPr>
              <a:t>💡 ป้องกัน Paused — เข้าสัปดาห์ละครั้ง</a:t>
            </a:r>
          </a:p>
          <a:p>
            <a:r>
              <a:rPr sz="1000">
                <a:solidFill>
                  <a:srgbClr val="2A2A2A"/>
                </a:solidFill>
              </a:rPr>
              <a:t>แค่เปิดหน้า Supabase Table Editor ก็นับว่า active แล้ว ไม่ต้องทำอะไรเพิ่ม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49240"/>
            <a:ext cx="4572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6217920"/>
            <a:ext cx="8503920" cy="502920"/>
          </a:xfrm>
          <a:prstGeom prst="rect">
            <a:avLst/>
          </a:prstGeom>
          <a:solidFill>
            <a:srgbClr val="ECF2EB"/>
          </a:solidFill>
          <a:ln w="25400">
            <a:solidFill>
              <a:srgbClr val="87A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557252"/>
                </a:solidFill>
              </a:rPr>
              <a:t>📌 ถ้าร้านเปิดทุกวัน แนะนำ Supabase Pro</a:t>
            </a:r>
          </a:p>
          <a:p>
            <a:r>
              <a:rPr sz="1000">
                <a:solidFill>
                  <a:srgbClr val="2A2A2A"/>
                </a:solidFill>
              </a:rPr>
              <a:t>$25/เดือน — ไม่มี pause อัตโนมัติ ไม่ต้องกังวลเรื่องนี้อีก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217920"/>
            <a:ext cx="45720" cy="50292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1920" y="82296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จบสไลด์แล้ว!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ดูครบแล้ว ถ้ามีคำถามอะไรเพิ่ม ทักเราทาง LINE ได้เลยครับ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108960"/>
            <a:ext cx="54864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2A2A"/>
                </a:solidFill>
              </a:rPr>
              <a:t>📅 อย่าลืมนัด Zoom สอนงานจริง 30 นาที</a:t>
            </a:r>
          </a:p>
          <a:p>
            <a:pPr algn="l"/>
            <a:r>
              <a:rPr sz="1200">
                <a:solidFill>
                  <a:srgbClr val="2A2A2A"/>
                </a:solidFill>
              </a:rPr>
              <a:t>✓  ทดลองซ่อนเมนูพร้อมกัน live</a:t>
            </a:r>
          </a:p>
          <a:p>
            <a:pPr algn="l"/>
            <a:r>
              <a:rPr sz="1200">
                <a:solidFill>
                  <a:srgbClr val="2A2A2A"/>
                </a:solidFill>
              </a:rPr>
              <a:t>✓  ทดลองแก้ราคาใน Supabase</a:t>
            </a:r>
          </a:p>
          <a:p>
            <a:pPr algn="l"/>
            <a:r>
              <a:rPr sz="1200">
                <a:solidFill>
                  <a:srgbClr val="2A2A2A"/>
                </a:solidFill>
              </a:rPr>
              <a:t>✓  ดูออเดอร์เข้า LINE OA จริง</a:t>
            </a:r>
          </a:p>
          <a:p>
            <a:pPr algn="l"/>
            <a:r>
              <a:rPr sz="1200">
                <a:solidFill>
                  <a:srgbClr val="2A2A2A"/>
                </a:solidFill>
              </a:rPr>
              <a:t>✓  ตอบคำถามที่ค้างอยู่ทุกข้อ</a:t>
            </a:r>
          </a:p>
          <a:p>
            <a:pPr algn="l"/>
            <a:r>
              <a:rPr sz="1200">
                <a:solidFill>
                  <a:srgbClr val="2A2A2A"/>
                </a:solidFill>
              </a:rPr>
              <a:t>✓  บันทึก Zoom ไว้ดูย้อนหลังได้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